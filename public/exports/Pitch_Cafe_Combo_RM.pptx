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55934"/>
          </a:solidFill>
          <a:ln/>
        </p:spPr>
      </p:sp>
      <p:sp>
        <p:nvSpPr>
          <p:cNvPr id="3" name="Text 1"/>
          <p:cNvSpPr/>
          <p:nvPr/>
        </p:nvSpPr>
        <p:spPr>
          <a:xfrm>
            <a:off x="914400" y="548640"/>
            <a:ext cx="1828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UAH</a:t>
            </a:r>
            <a:endParaRPr lang="en-US" sz="2800" dirty="0"/>
          </a:p>
        </p:txBody>
      </p:sp>
      <p:sp>
        <p:nvSpPr>
          <p:cNvPr id="4" name="Text 2"/>
          <p:cNvSpPr/>
          <p:nvPr/>
        </p:nvSpPr>
        <p:spPr>
          <a:xfrm>
            <a:off x="914400" y="1051560"/>
            <a:ext cx="73152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Universidad Alberto Hurtado</a:t>
            </a:r>
            <a:endParaRPr lang="en-US" sz="1400" dirty="0"/>
          </a:p>
        </p:txBody>
      </p:sp>
      <p:sp>
        <p:nvSpPr>
          <p:cNvPr id="5" name="Text 3"/>
          <p:cNvSpPr/>
          <p:nvPr/>
        </p:nvSpPr>
        <p:spPr>
          <a:xfrm>
            <a:off x="914400" y="2286000"/>
            <a:ext cx="10058400"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Cafetería Combo Único</a:t>
            </a:r>
            <a:endParaRPr lang="en-US" sz="5400" dirty="0"/>
          </a:p>
        </p:txBody>
      </p:sp>
      <p:sp>
        <p:nvSpPr>
          <p:cNvPr id="6" name="Text 4"/>
          <p:cNvSpPr/>
          <p:nvPr/>
        </p:nvSpPr>
        <p:spPr>
          <a:xfrm>
            <a:off x="914400" y="3291840"/>
            <a:ext cx="10058400" cy="548640"/>
          </a:xfrm>
          <a:prstGeom prst="rect">
            <a:avLst/>
          </a:prstGeom>
          <a:noFill/>
          <a:ln/>
        </p:spPr>
        <p:txBody>
          <a:bodyPr wrap="square" rtlCol="0" anchor="ctr"/>
          <a:lstStyle/>
          <a:p>
            <a:pPr indent="0" marL="0">
              <a:buNone/>
            </a:pPr>
            <a:r>
              <a:rPr lang="en-US" sz="2200" i="1" dirty="0">
                <a:solidFill>
                  <a:srgbClr val="F4A261"/>
                </a:solidFill>
                <a:latin typeface="Calibri" pitchFamily="34" charset="0"/>
                <a:ea typeface="Calibri" pitchFamily="34" charset="-122"/>
                <a:cs typeface="Calibri" pitchFamily="34" charset="-120"/>
              </a:rPr>
              <a:t>Análisis de factibilidad y selección de localización</a:t>
            </a:r>
            <a:endParaRPr lang="en-US" sz="2200" dirty="0"/>
          </a:p>
        </p:txBody>
      </p:sp>
      <p:sp>
        <p:nvSpPr>
          <p:cNvPr id="7" name="Text 5"/>
          <p:cNvSpPr/>
          <p:nvPr/>
        </p:nvSpPr>
        <p:spPr>
          <a:xfrm>
            <a:off x="914400" y="3840480"/>
            <a:ext cx="10058400" cy="36576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Región Metropolitana de Santiago · 7 zonas evaluadas</a:t>
            </a:r>
            <a:endParaRPr lang="en-US" sz="1600" dirty="0"/>
          </a:p>
        </p:txBody>
      </p:sp>
      <p:sp>
        <p:nvSpPr>
          <p:cNvPr id="8" name="Text 6"/>
          <p:cNvSpPr/>
          <p:nvPr/>
        </p:nvSpPr>
        <p:spPr>
          <a:xfrm>
            <a:off x="914400" y="5486400"/>
            <a:ext cx="7315200" cy="274320"/>
          </a:xfrm>
          <a:prstGeom prst="rect">
            <a:avLst/>
          </a:prstGeom>
          <a:noFill/>
          <a:ln/>
        </p:spPr>
        <p:txBody>
          <a:bodyPr wrap="square" rtlCol="0" anchor="ctr"/>
          <a:lstStyle/>
          <a:p>
            <a:pPr indent="0" marL="0">
              <a:buNone/>
            </a:pPr>
            <a:r>
              <a:rPr lang="en-US" sz="1300" dirty="0">
                <a:solidFill>
                  <a:srgbClr val="F4A261"/>
                </a:solidFill>
                <a:latin typeface="Calibri" pitchFamily="34" charset="0"/>
                <a:ea typeface="Calibri" pitchFamily="34" charset="-122"/>
                <a:cs typeface="Calibri" pitchFamily="34" charset="-120"/>
              </a:rPr>
              <a:t>MBA UAH · Promoción 2026</a:t>
            </a:r>
            <a:endParaRPr lang="en-US" sz="1300" dirty="0"/>
          </a:p>
        </p:txBody>
      </p:sp>
      <p:sp>
        <p:nvSpPr>
          <p:cNvPr id="9" name="Text 7"/>
          <p:cNvSpPr/>
          <p:nvPr/>
        </p:nvSpPr>
        <p:spPr>
          <a:xfrm>
            <a:off x="914400" y="5760720"/>
            <a:ext cx="73152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Curso: Evaluación de Proyectos</a:t>
            </a:r>
            <a:endParaRPr lang="en-US" sz="1200" dirty="0"/>
          </a:p>
        </p:txBody>
      </p:sp>
      <p:sp>
        <p:nvSpPr>
          <p:cNvPr id="10" name="Text 8"/>
          <p:cNvSpPr/>
          <p:nvPr/>
        </p:nvSpPr>
        <p:spPr>
          <a:xfrm>
            <a:off x="914400" y="6035040"/>
            <a:ext cx="73152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Profesor: Mauricio Zúñiga</a:t>
            </a:r>
            <a:endParaRPr lang="en-US" sz="1200" dirty="0"/>
          </a:p>
        </p:txBody>
      </p:sp>
      <p:sp>
        <p:nvSpPr>
          <p:cNvPr id="11" name="Text 9"/>
          <p:cNvSpPr/>
          <p:nvPr/>
        </p:nvSpPr>
        <p:spPr>
          <a:xfrm>
            <a:off x="10058400" y="6035040"/>
            <a:ext cx="1828800" cy="274320"/>
          </a:xfrm>
          <a:prstGeom prst="rect">
            <a:avLst/>
          </a:prstGeom>
          <a:noFill/>
          <a:ln/>
        </p:spPr>
        <p:txBody>
          <a:bodyPr wrap="square" rtlCol="0" anchor="ctr"/>
          <a:lstStyle/>
          <a:p>
            <a:pPr algn="r" indent="0" marL="0">
              <a:buNone/>
            </a:pPr>
            <a:r>
              <a:rPr lang="en-US" sz="1100" dirty="0">
                <a:solidFill>
                  <a:srgbClr val="9CA3AF"/>
                </a:solidFill>
                <a:latin typeface="Calibri" pitchFamily="34" charset="0"/>
                <a:ea typeface="Calibri" pitchFamily="34" charset="-122"/>
                <a:cs typeface="Calibri" pitchFamily="34" charset="-120"/>
              </a:rPr>
              <a:t>mayo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RESUMEN EJECUTIVO</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El proyecto en una página</a:t>
            </a:r>
            <a:endParaRPr lang="en-US" sz="2800" dirty="0"/>
          </a:p>
        </p:txBody>
      </p:sp>
      <p:sp>
        <p:nvSpPr>
          <p:cNvPr id="5" name="Text 3"/>
          <p:cNvSpPr/>
          <p:nvPr/>
        </p:nvSpPr>
        <p:spPr>
          <a:xfrm>
            <a:off x="365760" y="1143000"/>
            <a:ext cx="11430000" cy="365760"/>
          </a:xfrm>
          <a:prstGeom prst="rect">
            <a:avLst/>
          </a:prstGeom>
          <a:noFill/>
          <a:ln/>
        </p:spPr>
        <p:txBody>
          <a:bodyPr wrap="square" rtlCol="0" anchor="ctr"/>
          <a:lstStyle/>
          <a:p>
            <a:pPr indent="0" marL="0">
              <a:buNone/>
            </a:pPr>
            <a:r>
              <a:rPr lang="en-US" sz="1400" i="1" dirty="0">
                <a:solidFill>
                  <a:srgbClr val="4B5563"/>
                </a:solidFill>
                <a:latin typeface="Calibri" pitchFamily="34" charset="0"/>
                <a:ea typeface="Calibri" pitchFamily="34" charset="-122"/>
                <a:cs typeface="Calibri" pitchFamily="34" charset="-120"/>
              </a:rPr>
              <a:t>Cafetería compacta de combo único en la RM. Modelo evaluado en 7 zonas con datos reales.</a:t>
            </a:r>
            <a:endParaRPr lang="en-US" sz="1400" dirty="0"/>
          </a:p>
        </p:txBody>
      </p:sp>
      <p:sp>
        <p:nvSpPr>
          <p:cNvPr id="6" name="Shape 4"/>
          <p:cNvSpPr/>
          <p:nvPr/>
        </p:nvSpPr>
        <p:spPr>
          <a:xfrm>
            <a:off x="365760" y="1828800"/>
            <a:ext cx="2743200" cy="1371600"/>
          </a:xfrm>
          <a:prstGeom prst="rect">
            <a:avLst/>
          </a:prstGeom>
          <a:solidFill>
            <a:srgbClr val="FFFFFF"/>
          </a:solidFill>
          <a:ln w="12700">
            <a:solidFill>
              <a:srgbClr val="E5E7EB"/>
            </a:solidFill>
            <a:prstDash val="solid"/>
          </a:ln>
        </p:spPr>
      </p:sp>
      <p:sp>
        <p:nvSpPr>
          <p:cNvPr id="7" name="Text 5"/>
          <p:cNvSpPr/>
          <p:nvPr/>
        </p:nvSpPr>
        <p:spPr>
          <a:xfrm>
            <a:off x="548640" y="1965960"/>
            <a:ext cx="2468880" cy="274320"/>
          </a:xfrm>
          <a:prstGeom prst="rect">
            <a:avLst/>
          </a:prstGeom>
          <a:noFill/>
          <a:ln/>
        </p:spPr>
        <p:txBody>
          <a:bodyPr wrap="square"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Ubicación recomendada</a:t>
            </a:r>
            <a:endParaRPr lang="en-US" sz="1000" dirty="0"/>
          </a:p>
        </p:txBody>
      </p:sp>
      <p:sp>
        <p:nvSpPr>
          <p:cNvPr id="8" name="Text 6"/>
          <p:cNvSpPr/>
          <p:nvPr/>
        </p:nvSpPr>
        <p:spPr>
          <a:xfrm>
            <a:off x="548640" y="2331720"/>
            <a:ext cx="2468880" cy="640080"/>
          </a:xfrm>
          <a:prstGeom prst="rect">
            <a:avLst/>
          </a:prstGeom>
          <a:noFill/>
          <a:ln/>
        </p:spPr>
        <p:txBody>
          <a:bodyPr wrap="square" rtlCol="0" anchor="ctr"/>
          <a:lstStyle/>
          <a:p>
            <a:pPr indent="0" marL="0">
              <a:buNone/>
            </a:pPr>
            <a:r>
              <a:rPr lang="en-US" sz="3200" b="1" dirty="0">
                <a:solidFill>
                  <a:srgbClr val="0B3D5C"/>
                </a:solidFill>
                <a:latin typeface="Calibri" pitchFamily="34" charset="0"/>
                <a:ea typeface="Calibri" pitchFamily="34" charset="-122"/>
                <a:cs typeface="Calibri" pitchFamily="34" charset="-120"/>
              </a:rPr>
              <a:t>Las Condes</a:t>
            </a:r>
            <a:endParaRPr lang="en-US" sz="3200" dirty="0"/>
          </a:p>
        </p:txBody>
      </p:sp>
      <p:sp>
        <p:nvSpPr>
          <p:cNvPr id="9" name="Shape 7"/>
          <p:cNvSpPr/>
          <p:nvPr/>
        </p:nvSpPr>
        <p:spPr>
          <a:xfrm>
            <a:off x="3246120" y="1828800"/>
            <a:ext cx="2743200" cy="1371600"/>
          </a:xfrm>
          <a:prstGeom prst="rect">
            <a:avLst/>
          </a:prstGeom>
          <a:solidFill>
            <a:srgbClr val="FFFFFF"/>
          </a:solidFill>
          <a:ln w="12700">
            <a:solidFill>
              <a:srgbClr val="E5E7EB"/>
            </a:solidFill>
            <a:prstDash val="solid"/>
          </a:ln>
        </p:spPr>
      </p:sp>
      <p:sp>
        <p:nvSpPr>
          <p:cNvPr id="10" name="Text 8"/>
          <p:cNvSpPr/>
          <p:nvPr/>
        </p:nvSpPr>
        <p:spPr>
          <a:xfrm>
            <a:off x="3429000" y="1965960"/>
            <a:ext cx="2468880" cy="274320"/>
          </a:xfrm>
          <a:prstGeom prst="rect">
            <a:avLst/>
          </a:prstGeom>
          <a:noFill/>
          <a:ln/>
        </p:spPr>
        <p:txBody>
          <a:bodyPr wrap="square"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VAN base</a:t>
            </a:r>
            <a:endParaRPr lang="en-US" sz="1000" dirty="0"/>
          </a:p>
        </p:txBody>
      </p:sp>
      <p:sp>
        <p:nvSpPr>
          <p:cNvPr id="11" name="Text 9"/>
          <p:cNvSpPr/>
          <p:nvPr/>
        </p:nvSpPr>
        <p:spPr>
          <a:xfrm>
            <a:off x="3429000" y="2331720"/>
            <a:ext cx="2468880" cy="640080"/>
          </a:xfrm>
          <a:prstGeom prst="rect">
            <a:avLst/>
          </a:prstGeom>
          <a:noFill/>
          <a:ln/>
        </p:spPr>
        <p:txBody>
          <a:bodyPr wrap="square" rtlCol="0" anchor="ctr"/>
          <a:lstStyle/>
          <a:p>
            <a:pPr indent="0" marL="0">
              <a:buNone/>
            </a:pPr>
            <a:r>
              <a:rPr lang="en-US" sz="3200" b="1" dirty="0">
                <a:solidFill>
                  <a:srgbClr val="10B981"/>
                </a:solidFill>
                <a:latin typeface="Calibri" pitchFamily="34" charset="0"/>
                <a:ea typeface="Calibri" pitchFamily="34" charset="-122"/>
                <a:cs typeface="Calibri" pitchFamily="34" charset="-120"/>
              </a:rPr>
              <a:t>$107M</a:t>
            </a:r>
            <a:endParaRPr lang="en-US" sz="3200" dirty="0"/>
          </a:p>
        </p:txBody>
      </p:sp>
      <p:sp>
        <p:nvSpPr>
          <p:cNvPr id="12" name="Shape 10"/>
          <p:cNvSpPr/>
          <p:nvPr/>
        </p:nvSpPr>
        <p:spPr>
          <a:xfrm>
            <a:off x="6126480" y="1828800"/>
            <a:ext cx="2743200" cy="1371600"/>
          </a:xfrm>
          <a:prstGeom prst="rect">
            <a:avLst/>
          </a:prstGeom>
          <a:solidFill>
            <a:srgbClr val="FFFFFF"/>
          </a:solidFill>
          <a:ln w="12700">
            <a:solidFill>
              <a:srgbClr val="E5E7EB"/>
            </a:solidFill>
            <a:prstDash val="solid"/>
          </a:ln>
        </p:spPr>
      </p:sp>
      <p:sp>
        <p:nvSpPr>
          <p:cNvPr id="13" name="Text 11"/>
          <p:cNvSpPr/>
          <p:nvPr/>
        </p:nvSpPr>
        <p:spPr>
          <a:xfrm>
            <a:off x="6309360" y="1965960"/>
            <a:ext cx="2468880" cy="274320"/>
          </a:xfrm>
          <a:prstGeom prst="rect">
            <a:avLst/>
          </a:prstGeom>
          <a:noFill/>
          <a:ln/>
        </p:spPr>
        <p:txBody>
          <a:bodyPr wrap="square"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TIR</a:t>
            </a:r>
            <a:endParaRPr lang="en-US" sz="1000" dirty="0"/>
          </a:p>
        </p:txBody>
      </p:sp>
      <p:sp>
        <p:nvSpPr>
          <p:cNvPr id="14" name="Text 12"/>
          <p:cNvSpPr/>
          <p:nvPr/>
        </p:nvSpPr>
        <p:spPr>
          <a:xfrm>
            <a:off x="6309360" y="2331720"/>
            <a:ext cx="2468880" cy="640080"/>
          </a:xfrm>
          <a:prstGeom prst="rect">
            <a:avLst/>
          </a:prstGeom>
          <a:noFill/>
          <a:ln/>
        </p:spPr>
        <p:txBody>
          <a:bodyPr wrap="square" rtlCol="0" anchor="ctr"/>
          <a:lstStyle/>
          <a:p>
            <a:pPr indent="0" marL="0">
              <a:buNone/>
            </a:pPr>
            <a:r>
              <a:rPr lang="en-US" sz="3200" b="1" dirty="0">
                <a:solidFill>
                  <a:srgbClr val="E55934"/>
                </a:solidFill>
                <a:latin typeface="Calibri" pitchFamily="34" charset="0"/>
                <a:ea typeface="Calibri" pitchFamily="34" charset="-122"/>
                <a:cs typeface="Calibri" pitchFamily="34" charset="-120"/>
              </a:rPr>
              <a:t>49%</a:t>
            </a:r>
            <a:endParaRPr lang="en-US" sz="3200" dirty="0"/>
          </a:p>
        </p:txBody>
      </p:sp>
      <p:sp>
        <p:nvSpPr>
          <p:cNvPr id="15" name="Shape 13"/>
          <p:cNvSpPr/>
          <p:nvPr/>
        </p:nvSpPr>
        <p:spPr>
          <a:xfrm>
            <a:off x="9006840" y="1828800"/>
            <a:ext cx="2743200" cy="1371600"/>
          </a:xfrm>
          <a:prstGeom prst="rect">
            <a:avLst/>
          </a:prstGeom>
          <a:solidFill>
            <a:srgbClr val="FFFFFF"/>
          </a:solidFill>
          <a:ln w="12700">
            <a:solidFill>
              <a:srgbClr val="E5E7EB"/>
            </a:solidFill>
            <a:prstDash val="solid"/>
          </a:ln>
        </p:spPr>
      </p:sp>
      <p:sp>
        <p:nvSpPr>
          <p:cNvPr id="16" name="Text 14"/>
          <p:cNvSpPr/>
          <p:nvPr/>
        </p:nvSpPr>
        <p:spPr>
          <a:xfrm>
            <a:off x="9189720" y="1965960"/>
            <a:ext cx="2468880" cy="274320"/>
          </a:xfrm>
          <a:prstGeom prst="rect">
            <a:avLst/>
          </a:prstGeom>
          <a:noFill/>
          <a:ln/>
        </p:spPr>
        <p:txBody>
          <a:bodyPr wrap="square"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Payback</a:t>
            </a:r>
            <a:endParaRPr lang="en-US" sz="1000" dirty="0"/>
          </a:p>
        </p:txBody>
      </p:sp>
      <p:sp>
        <p:nvSpPr>
          <p:cNvPr id="17" name="Text 15"/>
          <p:cNvSpPr/>
          <p:nvPr/>
        </p:nvSpPr>
        <p:spPr>
          <a:xfrm>
            <a:off x="9189720" y="2331720"/>
            <a:ext cx="2468880" cy="640080"/>
          </a:xfrm>
          <a:prstGeom prst="rect">
            <a:avLst/>
          </a:prstGeom>
          <a:noFill/>
          <a:ln/>
        </p:spPr>
        <p:txBody>
          <a:bodyPr wrap="square" rtlCol="0" anchor="ctr"/>
          <a:lstStyle/>
          <a:p>
            <a:pPr indent="0" marL="0">
              <a:buNone/>
            </a:pPr>
            <a:r>
              <a:rPr lang="en-US" sz="3200" b="1" dirty="0">
                <a:solidFill>
                  <a:srgbClr val="F4A261"/>
                </a:solidFill>
                <a:latin typeface="Calibri" pitchFamily="34" charset="0"/>
                <a:ea typeface="Calibri" pitchFamily="34" charset="-122"/>
                <a:cs typeface="Calibri" pitchFamily="34" charset="-120"/>
              </a:rPr>
              <a:t>3.2 años</a:t>
            </a:r>
            <a:endParaRPr lang="en-US" sz="3200" dirty="0"/>
          </a:p>
        </p:txBody>
      </p:sp>
      <p:sp>
        <p:nvSpPr>
          <p:cNvPr id="18" name="Text 16"/>
          <p:cNvSpPr/>
          <p:nvPr/>
        </p:nvSpPr>
        <p:spPr>
          <a:xfrm>
            <a:off x="365760" y="3474720"/>
            <a:ext cx="11430000" cy="1371600"/>
          </a:xfrm>
          <a:prstGeom prst="rect">
            <a:avLst/>
          </a:prstGeom>
          <a:noFill/>
          <a:ln/>
        </p:spPr>
        <p:txBody>
          <a:bodyPr wrap="square"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Tras corrección y auditoría del modelo financiero</a:t>
            </a:r>
            <a:pPr indent="0" marL="0">
              <a:buNone/>
            </a:pPr>
            <a:r>
              <a:rPr lang="en-US" sz="1300" dirty="0">
                <a:solidFill>
                  <a:srgbClr val="4B5563"/>
                </a:solidFill>
                <a:latin typeface="Calibri" pitchFamily="34" charset="0"/>
                <a:ea typeface="Calibri" pitchFamily="34" charset="-122"/>
                <a:cs typeface="Calibri" pitchFamily="34" charset="-120"/>
              </a:rPr>
              <a:t> (costos fijos reales del retail food chileno, comisión de tarjetas, valor terminal por múltiplo EBITDA, tasa de descuento de 14%, penalización por densidad de competencia, ramp-up año a año), </a:t>
            </a:r>
            <a:pPr indent="0" marL="0">
              <a:buNone/>
            </a:pPr>
            <a:r>
              <a:rPr lang="en-US" sz="1300" b="1" dirty="0">
                <a:solidFill>
                  <a:srgbClr val="E55934"/>
                </a:solidFill>
                <a:latin typeface="Calibri" pitchFamily="34" charset="0"/>
                <a:ea typeface="Calibri" pitchFamily="34" charset="-122"/>
                <a:cs typeface="Calibri" pitchFamily="34" charset="-120"/>
              </a:rPr>
              <a:t>El Golf · Las Condes</a:t>
            </a:r>
            <a:pPr indent="0" marL="0">
              <a:buNone/>
            </a:pPr>
            <a:r>
              <a:rPr lang="en-US" sz="1300" dirty="0">
                <a:solidFill>
                  <a:srgbClr val="4B5563"/>
                </a:solidFill>
                <a:latin typeface="Calibri" pitchFamily="34" charset="0"/>
                <a:ea typeface="Calibri" pitchFamily="34" charset="-122"/>
                <a:cs typeface="Calibri" pitchFamily="34" charset="-120"/>
              </a:rPr>
              <a:t> resulta la única ubicación claramente recomendable. Genera VAN base de $107M con TIR de 49%, con un payback de 3.2 años a partir de una inversión inicial de $49.0M (CAPEX + capital de trabajo).</a:t>
            </a:r>
            <a:endParaRPr lang="en-US" sz="1300" dirty="0"/>
          </a:p>
        </p:txBody>
      </p:sp>
      <p:sp>
        <p:nvSpPr>
          <p:cNvPr id="19" name="Text 17"/>
          <p:cNvSpPr/>
          <p:nvPr/>
        </p:nvSpPr>
        <p:spPr>
          <a:xfrm>
            <a:off x="365760" y="4937760"/>
            <a:ext cx="11430000" cy="914400"/>
          </a:xfrm>
          <a:prstGeom prst="rect">
            <a:avLst/>
          </a:prstGeom>
          <a:noFill/>
          <a:ln/>
        </p:spPr>
        <p:txBody>
          <a:bodyPr wrap="square" rtlCol="0" anchor="ctr"/>
          <a:lstStyle/>
          <a:p>
            <a:pPr indent="0" marL="0">
              <a:buNone/>
            </a:pPr>
            <a:r>
              <a:rPr lang="en-US" sz="1400" b="1" dirty="0">
                <a:solidFill>
                  <a:srgbClr val="E55934"/>
                </a:solidFill>
                <a:latin typeface="Calibri" pitchFamily="34" charset="0"/>
                <a:ea typeface="Calibri" pitchFamily="34" charset="-122"/>
                <a:cs typeface="Calibri" pitchFamily="34" charset="-120"/>
              </a:rPr>
              <a:t>Recomendación: </a:t>
            </a:r>
            <a:pPr indent="0" marL="0">
              <a:buNone/>
            </a:pPr>
            <a:r>
              <a:rPr lang="en-US" sz="1400" dirty="0">
                <a:solidFill>
                  <a:srgbClr val="1F2937"/>
                </a:solidFill>
                <a:latin typeface="Calibri" pitchFamily="34" charset="0"/>
                <a:ea typeface="Calibri" pitchFamily="34" charset="-122"/>
                <a:cs typeface="Calibri" pitchFamily="34" charset="-120"/>
              </a:rPr>
              <a:t>ejecutar el proyecto en El Golf · Las Condes, sujeto a estudio primario de demanda en el local específico durante una semana laboral típica antes de la firma del contrato de arriendo. Implementar plan de contingencia operacional para escenario pesimista (caída demanda 35-40%).</a:t>
            </a:r>
            <a:endParaRPr lang="en-US" sz="1400" dirty="0"/>
          </a:p>
        </p:txBody>
      </p:sp>
      <p:sp>
        <p:nvSpPr>
          <p:cNvPr id="20" name="Text 18"/>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1" name="Text 19"/>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EL PROYECTO</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¿Qué proponemos?</a:t>
            </a:r>
            <a:endParaRPr lang="en-US" sz="2800" dirty="0"/>
          </a:p>
        </p:txBody>
      </p:sp>
      <p:sp>
        <p:nvSpPr>
          <p:cNvPr id="5" name="Text 3"/>
          <p:cNvSpPr/>
          <p:nvPr/>
        </p:nvSpPr>
        <p:spPr>
          <a:xfrm>
            <a:off x="365760" y="1371600"/>
            <a:ext cx="11430000" cy="457200"/>
          </a:xfrm>
          <a:prstGeom prst="rect">
            <a:avLst/>
          </a:prstGeom>
          <a:noFill/>
          <a:ln/>
        </p:spPr>
        <p:txBody>
          <a:bodyPr wrap="square"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Cafetería compacta (30-35 m²) que vende UN combo único cerrado:</a:t>
            </a:r>
            <a:endParaRPr lang="en-US" sz="1800" dirty="0"/>
          </a:p>
        </p:txBody>
      </p:sp>
      <p:sp>
        <p:nvSpPr>
          <p:cNvPr id="6" name="Shape 4"/>
          <p:cNvSpPr/>
          <p:nvPr/>
        </p:nvSpPr>
        <p:spPr>
          <a:xfrm>
            <a:off x="365760" y="2011680"/>
            <a:ext cx="5303520" cy="3657600"/>
          </a:xfrm>
          <a:prstGeom prst="rect">
            <a:avLst/>
          </a:prstGeom>
          <a:solidFill>
            <a:srgbClr val="F7F4ED"/>
          </a:solidFill>
          <a:ln w="12700">
            <a:solidFill>
              <a:srgbClr val="E5E7EB"/>
            </a:solidFill>
            <a:prstDash val="solid"/>
          </a:ln>
        </p:spPr>
      </p:sp>
      <p:sp>
        <p:nvSpPr>
          <p:cNvPr id="7" name="Text 5"/>
          <p:cNvSpPr/>
          <p:nvPr/>
        </p:nvSpPr>
        <p:spPr>
          <a:xfrm>
            <a:off x="548640" y="2194560"/>
            <a:ext cx="4937760" cy="365760"/>
          </a:xfrm>
          <a:prstGeom prst="rect">
            <a:avLst/>
          </a:prstGeom>
          <a:noFill/>
          <a:ln/>
        </p:spPr>
        <p:txBody>
          <a:bodyPr wrap="square" rtlCol="0" anchor="ctr"/>
          <a:lstStyle/>
          <a:p>
            <a:pPr indent="0" marL="0">
              <a:buNone/>
            </a:pPr>
            <a:r>
              <a:rPr lang="en-US" sz="1400" b="1" dirty="0">
                <a:solidFill>
                  <a:srgbClr val="E55934"/>
                </a:solidFill>
                <a:latin typeface="Calibri" pitchFamily="34" charset="0"/>
                <a:ea typeface="Calibri" pitchFamily="34" charset="-122"/>
                <a:cs typeface="Calibri" pitchFamily="34" charset="-120"/>
              </a:rPr>
              <a:t>COMBO ÚNICO</a:t>
            </a:r>
            <a:endParaRPr lang="en-US" sz="1400" dirty="0"/>
          </a:p>
        </p:txBody>
      </p:sp>
      <p:sp>
        <p:nvSpPr>
          <p:cNvPr id="8" name="Text 6"/>
          <p:cNvSpPr/>
          <p:nvPr/>
        </p:nvSpPr>
        <p:spPr>
          <a:xfrm>
            <a:off x="548640" y="2560320"/>
            <a:ext cx="4937760" cy="3017520"/>
          </a:xfrm>
          <a:prstGeom prst="rect">
            <a:avLst/>
          </a:prstGeom>
          <a:noFill/>
          <a:ln/>
        </p:spPr>
        <p:txBody>
          <a:bodyPr wrap="square" rtlCol="0" anchor="ctr"/>
          <a:lstStyle/>
          <a:p>
            <a:pPr indent="0" marL="0">
              <a:buNone/>
            </a:pPr>
            <a:r>
              <a:rPr lang="en-US" sz="1600" b="1" dirty="0">
                <a:solidFill>
                  <a:srgbClr val="4B5563"/>
                </a:solidFill>
                <a:latin typeface="Calibri" pitchFamily="34" charset="0"/>
                <a:ea typeface="Calibri" pitchFamily="34" charset="-122"/>
                <a:cs typeface="Calibri" pitchFamily="34" charset="-120"/>
              </a:rPr>
              <a:t>☕ Espresso preparado al momento
</a:t>
            </a:r>
            <a:pPr indent="0" marL="0">
              <a:buNone/>
            </a:pPr>
            <a:r>
              <a:rPr lang="en-US" sz="1300" dirty="0">
                <a:solidFill>
                  <a:srgbClr val="4B5563"/>
                </a:solidFill>
                <a:latin typeface="Calibri" pitchFamily="34" charset="0"/>
                <a:ea typeface="Calibri" pitchFamily="34" charset="-122"/>
                <a:cs typeface="Calibri" pitchFamily="34" charset="-120"/>
              </a:rPr>
              <a:t>Máquina semiautomática 2 grupos. Café de origen seleccionado. Personalización con leche / sin leche.
</a:t>
            </a:r>
            <a:pPr indent="0" marL="0">
              <a:buNone/>
            </a:pPr>
            <a:r>
              <a:rPr lang="en-US" sz="1600" b="1" dirty="0">
                <a:solidFill>
                  <a:srgbClr val="4B5563"/>
                </a:solidFill>
                <a:latin typeface="Calibri" pitchFamily="34" charset="0"/>
                <a:ea typeface="Calibri" pitchFamily="34" charset="-122"/>
                <a:cs typeface="Calibri" pitchFamily="34" charset="-120"/>
              </a:rPr>
              <a:t>🥐 Producto envasado individual
</a:t>
            </a:r>
            <a:pPr indent="0" marL="0">
              <a:buNone/>
            </a:pPr>
            <a:r>
              <a:rPr lang="en-US" sz="1300" dirty="0">
                <a:solidFill>
                  <a:srgbClr val="4B5563"/>
                </a:solidFill>
                <a:latin typeface="Calibri" pitchFamily="34" charset="0"/>
                <a:ea typeface="Calibri" pitchFamily="34" charset="-122"/>
                <a:cs typeface="Calibri" pitchFamily="34" charset="-120"/>
              </a:rPr>
              <a:t>Croissant, sándwich premium o snack del proveedor certificado SEREMI. SIN preparación de alimentos en local.
</a:t>
            </a:r>
            <a:pPr indent="0" marL="0">
              <a:buNone/>
            </a:pPr>
            <a:r>
              <a:rPr lang="en-US" sz="1300" b="1" dirty="0">
                <a:solidFill>
                  <a:srgbClr val="0B3D5C"/>
                </a:solidFill>
                <a:latin typeface="Calibri" pitchFamily="34" charset="0"/>
                <a:ea typeface="Calibri" pitchFamily="34" charset="-122"/>
                <a:cs typeface="Calibri" pitchFamily="34" charset="-120"/>
              </a:rPr>
              <a:t>💵 Ticket esperado: $3.500 - $4.500 según zona</a:t>
            </a:r>
            <a:endParaRPr lang="en-US" sz="1300" dirty="0"/>
          </a:p>
        </p:txBody>
      </p:sp>
      <p:sp>
        <p:nvSpPr>
          <p:cNvPr id="9" name="Text 7"/>
          <p:cNvSpPr/>
          <p:nvPr/>
        </p:nvSpPr>
        <p:spPr>
          <a:xfrm>
            <a:off x="6035040" y="2011680"/>
            <a:ext cx="594360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Ventajas estratégicas vs. café tradicional</a:t>
            </a:r>
            <a:endParaRPr lang="en-US" sz="1400" dirty="0"/>
          </a:p>
        </p:txBody>
      </p:sp>
      <p:sp>
        <p:nvSpPr>
          <p:cNvPr id="10" name="Shape 8"/>
          <p:cNvSpPr/>
          <p:nvPr/>
        </p:nvSpPr>
        <p:spPr>
          <a:xfrm>
            <a:off x="6126480" y="2514600"/>
            <a:ext cx="457200" cy="457200"/>
          </a:xfrm>
          <a:prstGeom prst="ellipse">
            <a:avLst/>
          </a:prstGeom>
          <a:solidFill>
            <a:srgbClr val="E55934"/>
          </a:solidFill>
          <a:ln/>
        </p:spPr>
      </p:sp>
      <p:sp>
        <p:nvSpPr>
          <p:cNvPr id="11" name="Text 9"/>
          <p:cNvSpPr/>
          <p:nvPr/>
        </p:nvSpPr>
        <p:spPr>
          <a:xfrm>
            <a:off x="6126480" y="251460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6766560" y="2468880"/>
            <a:ext cx="5029200"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Menor inversión</a:t>
            </a:r>
            <a:endParaRPr lang="en-US" sz="1400" dirty="0"/>
          </a:p>
        </p:txBody>
      </p:sp>
      <p:sp>
        <p:nvSpPr>
          <p:cNvPr id="13" name="Text 11"/>
          <p:cNvSpPr/>
          <p:nvPr/>
        </p:nvSpPr>
        <p:spPr>
          <a:xfrm>
            <a:off x="6766560" y="2834640"/>
            <a:ext cx="521208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−30-35% vs café tradicional. Sin cocina industrial, lavavajillas HORECA ni mobiliario gourmet.</a:t>
            </a:r>
            <a:endParaRPr lang="en-US" sz="1100" dirty="0"/>
          </a:p>
        </p:txBody>
      </p:sp>
      <p:sp>
        <p:nvSpPr>
          <p:cNvPr id="14" name="Shape 12"/>
          <p:cNvSpPr/>
          <p:nvPr/>
        </p:nvSpPr>
        <p:spPr>
          <a:xfrm>
            <a:off x="6126480" y="3611880"/>
            <a:ext cx="457200" cy="457200"/>
          </a:xfrm>
          <a:prstGeom prst="ellipse">
            <a:avLst/>
          </a:prstGeom>
          <a:solidFill>
            <a:srgbClr val="E55934"/>
          </a:solidFill>
          <a:ln/>
        </p:spPr>
      </p:sp>
      <p:sp>
        <p:nvSpPr>
          <p:cNvPr id="15" name="Text 13"/>
          <p:cNvSpPr/>
          <p:nvPr/>
        </p:nvSpPr>
        <p:spPr>
          <a:xfrm>
            <a:off x="6126480" y="361188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6766560" y="3566160"/>
            <a:ext cx="5029200"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Operación simple</a:t>
            </a:r>
            <a:endParaRPr lang="en-US" sz="1400" dirty="0"/>
          </a:p>
        </p:txBody>
      </p:sp>
      <p:sp>
        <p:nvSpPr>
          <p:cNvPr id="17" name="Text 15"/>
          <p:cNvSpPr/>
          <p:nvPr/>
        </p:nvSpPr>
        <p:spPr>
          <a:xfrm>
            <a:off x="6766560" y="3931920"/>
            <a:ext cx="521208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Planilla mínima 2-3 personas (baristas certificados). Menos rotación crítica, menos gestión.</a:t>
            </a:r>
            <a:endParaRPr lang="en-US" sz="1100" dirty="0"/>
          </a:p>
        </p:txBody>
      </p:sp>
      <p:sp>
        <p:nvSpPr>
          <p:cNvPr id="18" name="Shape 16"/>
          <p:cNvSpPr/>
          <p:nvPr/>
        </p:nvSpPr>
        <p:spPr>
          <a:xfrm>
            <a:off x="6126480" y="4709160"/>
            <a:ext cx="457200" cy="457200"/>
          </a:xfrm>
          <a:prstGeom prst="ellipse">
            <a:avLst/>
          </a:prstGeom>
          <a:solidFill>
            <a:srgbClr val="E55934"/>
          </a:solidFill>
          <a:ln/>
        </p:spPr>
      </p:sp>
      <p:sp>
        <p:nvSpPr>
          <p:cNvPr id="19" name="Text 17"/>
          <p:cNvSpPr/>
          <p:nvPr/>
        </p:nvSpPr>
        <p:spPr>
          <a:xfrm>
            <a:off x="6126480" y="470916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766560" y="4663440"/>
            <a:ext cx="5029200"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Menor exposición regulatoria</a:t>
            </a:r>
            <a:endParaRPr lang="en-US" sz="1400" dirty="0"/>
          </a:p>
        </p:txBody>
      </p:sp>
      <p:sp>
        <p:nvSpPr>
          <p:cNvPr id="21" name="Text 19"/>
          <p:cNvSpPr/>
          <p:nvPr/>
        </p:nvSpPr>
        <p:spPr>
          <a:xfrm>
            <a:off x="6766560" y="5029200"/>
            <a:ext cx="521208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Categoría sanitaria SEREMI "manipulación mínima" (no HACCP completo). Plazos y arancel menores.</a:t>
            </a:r>
            <a:endParaRPr lang="en-US" sz="1100" dirty="0"/>
          </a:p>
        </p:txBody>
      </p:sp>
      <p:sp>
        <p:nvSpPr>
          <p:cNvPr id="22" name="Text 20"/>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3" name="Text 21"/>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MERCADO Y OPORTUNIDAD</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El sector café crece en Chile pero el formato tradicional se satura</a:t>
            </a:r>
            <a:endParaRPr lang="en-US" sz="2800" dirty="0"/>
          </a:p>
        </p:txBody>
      </p:sp>
      <p:sp>
        <p:nvSpPr>
          <p:cNvPr id="5" name="Shape 3"/>
          <p:cNvSpPr/>
          <p:nvPr/>
        </p:nvSpPr>
        <p:spPr>
          <a:xfrm>
            <a:off x="365760" y="1554480"/>
            <a:ext cx="2743200" cy="1645920"/>
          </a:xfrm>
          <a:prstGeom prst="rect">
            <a:avLst/>
          </a:prstGeom>
          <a:solidFill>
            <a:srgbClr val="F7F4ED"/>
          </a:solidFill>
          <a:ln/>
        </p:spPr>
      </p:sp>
      <p:sp>
        <p:nvSpPr>
          <p:cNvPr id="6" name="Text 4"/>
          <p:cNvSpPr/>
          <p:nvPr/>
        </p:nvSpPr>
        <p:spPr>
          <a:xfrm>
            <a:off x="365760" y="1691640"/>
            <a:ext cx="2743200" cy="822960"/>
          </a:xfrm>
          <a:prstGeom prst="rect">
            <a:avLst/>
          </a:prstGeom>
          <a:noFill/>
          <a:ln/>
        </p:spPr>
        <p:txBody>
          <a:bodyPr wrap="square" rtlCol="0" anchor="ctr"/>
          <a:lstStyle/>
          <a:p>
            <a:pPr algn="ctr" indent="0" marL="0">
              <a:buNone/>
            </a:pPr>
            <a:r>
              <a:rPr lang="en-US" sz="4400" b="1" dirty="0">
                <a:solidFill>
                  <a:srgbClr val="E55934"/>
                </a:solidFill>
                <a:latin typeface="Calibri" pitchFamily="34" charset="0"/>
                <a:ea typeface="Calibri" pitchFamily="34" charset="-122"/>
                <a:cs typeface="Calibri" pitchFamily="34" charset="-120"/>
              </a:rPr>
              <a:t>4.500+</a:t>
            </a:r>
            <a:endParaRPr lang="en-US" sz="4400" dirty="0"/>
          </a:p>
        </p:txBody>
      </p:sp>
      <p:sp>
        <p:nvSpPr>
          <p:cNvPr id="7" name="Text 5"/>
          <p:cNvSpPr/>
          <p:nvPr/>
        </p:nvSpPr>
        <p:spPr>
          <a:xfrm>
            <a:off x="365760" y="2606040"/>
            <a:ext cx="2743200" cy="365760"/>
          </a:xfrm>
          <a:prstGeom prst="rect">
            <a:avLst/>
          </a:prstGeom>
          <a:noFill/>
          <a:ln/>
        </p:spPr>
        <p:txBody>
          <a:bodyPr wrap="square"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cafeterías formales en Chile</a:t>
            </a:r>
            <a:endParaRPr lang="en-US" sz="1200" dirty="0"/>
          </a:p>
        </p:txBody>
      </p:sp>
      <p:sp>
        <p:nvSpPr>
          <p:cNvPr id="8" name="Text 6"/>
          <p:cNvSpPr/>
          <p:nvPr/>
        </p:nvSpPr>
        <p:spPr>
          <a:xfrm>
            <a:off x="365760" y="2971800"/>
            <a:ext cx="2743200" cy="22860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ANCC 2024</a:t>
            </a:r>
            <a:endParaRPr lang="en-US" sz="900" dirty="0"/>
          </a:p>
        </p:txBody>
      </p:sp>
      <p:sp>
        <p:nvSpPr>
          <p:cNvPr id="9" name="Shape 7"/>
          <p:cNvSpPr/>
          <p:nvPr/>
        </p:nvSpPr>
        <p:spPr>
          <a:xfrm>
            <a:off x="3246120" y="1554480"/>
            <a:ext cx="2743200" cy="1645920"/>
          </a:xfrm>
          <a:prstGeom prst="rect">
            <a:avLst/>
          </a:prstGeom>
          <a:solidFill>
            <a:srgbClr val="F7F4ED"/>
          </a:solidFill>
          <a:ln/>
        </p:spPr>
      </p:sp>
      <p:sp>
        <p:nvSpPr>
          <p:cNvPr id="10" name="Text 8"/>
          <p:cNvSpPr/>
          <p:nvPr/>
        </p:nvSpPr>
        <p:spPr>
          <a:xfrm>
            <a:off x="3246120" y="1691640"/>
            <a:ext cx="2743200" cy="822960"/>
          </a:xfrm>
          <a:prstGeom prst="rect">
            <a:avLst/>
          </a:prstGeom>
          <a:noFill/>
          <a:ln/>
        </p:spPr>
        <p:txBody>
          <a:bodyPr wrap="square" rtlCol="0" anchor="ctr"/>
          <a:lstStyle/>
          <a:p>
            <a:pPr algn="ctr" indent="0" marL="0">
              <a:buNone/>
            </a:pPr>
            <a:r>
              <a:rPr lang="en-US" sz="4400" b="1" dirty="0">
                <a:solidFill>
                  <a:srgbClr val="E55934"/>
                </a:solidFill>
                <a:latin typeface="Calibri" pitchFamily="34" charset="0"/>
                <a:ea typeface="Calibri" pitchFamily="34" charset="-122"/>
                <a:cs typeface="Calibri" pitchFamily="34" charset="-120"/>
              </a:rPr>
              <a:t>58%</a:t>
            </a:r>
            <a:endParaRPr lang="en-US" sz="4400" dirty="0"/>
          </a:p>
        </p:txBody>
      </p:sp>
      <p:sp>
        <p:nvSpPr>
          <p:cNvPr id="11" name="Text 9"/>
          <p:cNvSpPr/>
          <p:nvPr/>
        </p:nvSpPr>
        <p:spPr>
          <a:xfrm>
            <a:off x="3246120" y="2606040"/>
            <a:ext cx="2743200" cy="365760"/>
          </a:xfrm>
          <a:prstGeom prst="rect">
            <a:avLst/>
          </a:prstGeom>
          <a:noFill/>
          <a:ln/>
        </p:spPr>
        <p:txBody>
          <a:bodyPr wrap="square"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concentradas en RM</a:t>
            </a:r>
            <a:endParaRPr lang="en-US" sz="1200" dirty="0"/>
          </a:p>
        </p:txBody>
      </p:sp>
      <p:sp>
        <p:nvSpPr>
          <p:cNvPr id="12" name="Text 10"/>
          <p:cNvSpPr/>
          <p:nvPr/>
        </p:nvSpPr>
        <p:spPr>
          <a:xfrm>
            <a:off x="3246120" y="2971800"/>
            <a:ext cx="2743200" cy="22860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ANCC 2024</a:t>
            </a:r>
            <a:endParaRPr lang="en-US" sz="900" dirty="0"/>
          </a:p>
        </p:txBody>
      </p:sp>
      <p:sp>
        <p:nvSpPr>
          <p:cNvPr id="13" name="Shape 11"/>
          <p:cNvSpPr/>
          <p:nvPr/>
        </p:nvSpPr>
        <p:spPr>
          <a:xfrm>
            <a:off x="6126480" y="1554480"/>
            <a:ext cx="2743200" cy="1645920"/>
          </a:xfrm>
          <a:prstGeom prst="rect">
            <a:avLst/>
          </a:prstGeom>
          <a:solidFill>
            <a:srgbClr val="F7F4ED"/>
          </a:solidFill>
          <a:ln/>
        </p:spPr>
      </p:sp>
      <p:sp>
        <p:nvSpPr>
          <p:cNvPr id="14" name="Text 12"/>
          <p:cNvSpPr/>
          <p:nvPr/>
        </p:nvSpPr>
        <p:spPr>
          <a:xfrm>
            <a:off x="6126480" y="1691640"/>
            <a:ext cx="2743200" cy="822960"/>
          </a:xfrm>
          <a:prstGeom prst="rect">
            <a:avLst/>
          </a:prstGeom>
          <a:noFill/>
          <a:ln/>
        </p:spPr>
        <p:txBody>
          <a:bodyPr wrap="square" rtlCol="0" anchor="ctr"/>
          <a:lstStyle/>
          <a:p>
            <a:pPr algn="ctr" indent="0" marL="0">
              <a:buNone/>
            </a:pPr>
            <a:r>
              <a:rPr lang="en-US" sz="4400" b="1" dirty="0">
                <a:solidFill>
                  <a:srgbClr val="E55934"/>
                </a:solidFill>
                <a:latin typeface="Calibri" pitchFamily="34" charset="0"/>
                <a:ea typeface="Calibri" pitchFamily="34" charset="-122"/>
                <a:cs typeface="Calibri" pitchFamily="34" charset="-120"/>
              </a:rPr>
              <a:t>5,2%</a:t>
            </a:r>
            <a:endParaRPr lang="en-US" sz="4400" dirty="0"/>
          </a:p>
        </p:txBody>
      </p:sp>
      <p:sp>
        <p:nvSpPr>
          <p:cNvPr id="15" name="Text 13"/>
          <p:cNvSpPr/>
          <p:nvPr/>
        </p:nvSpPr>
        <p:spPr>
          <a:xfrm>
            <a:off x="6126480" y="2606040"/>
            <a:ext cx="2743200" cy="365760"/>
          </a:xfrm>
          <a:prstGeom prst="rect">
            <a:avLst/>
          </a:prstGeom>
          <a:noFill/>
          <a:ln/>
        </p:spPr>
        <p:txBody>
          <a:bodyPr wrap="square"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crecimiento anual sector</a:t>
            </a:r>
            <a:endParaRPr lang="en-US" sz="1200" dirty="0"/>
          </a:p>
        </p:txBody>
      </p:sp>
      <p:sp>
        <p:nvSpPr>
          <p:cNvPr id="16" name="Text 14"/>
          <p:cNvSpPr/>
          <p:nvPr/>
        </p:nvSpPr>
        <p:spPr>
          <a:xfrm>
            <a:off x="6126480" y="2971800"/>
            <a:ext cx="2743200" cy="22860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Achiga 2024</a:t>
            </a:r>
            <a:endParaRPr lang="en-US" sz="900" dirty="0"/>
          </a:p>
        </p:txBody>
      </p:sp>
      <p:sp>
        <p:nvSpPr>
          <p:cNvPr id="17" name="Shape 15"/>
          <p:cNvSpPr/>
          <p:nvPr/>
        </p:nvSpPr>
        <p:spPr>
          <a:xfrm>
            <a:off x="9006840" y="1554480"/>
            <a:ext cx="2743200" cy="1645920"/>
          </a:xfrm>
          <a:prstGeom prst="rect">
            <a:avLst/>
          </a:prstGeom>
          <a:solidFill>
            <a:srgbClr val="F7F4ED"/>
          </a:solidFill>
          <a:ln/>
        </p:spPr>
      </p:sp>
      <p:sp>
        <p:nvSpPr>
          <p:cNvPr id="18" name="Text 16"/>
          <p:cNvSpPr/>
          <p:nvPr/>
        </p:nvSpPr>
        <p:spPr>
          <a:xfrm>
            <a:off x="9006840" y="1691640"/>
            <a:ext cx="2743200" cy="822960"/>
          </a:xfrm>
          <a:prstGeom prst="rect">
            <a:avLst/>
          </a:prstGeom>
          <a:noFill/>
          <a:ln/>
        </p:spPr>
        <p:txBody>
          <a:bodyPr wrap="square" rtlCol="0" anchor="ctr"/>
          <a:lstStyle/>
          <a:p>
            <a:pPr algn="ctr" indent="0" marL="0">
              <a:buNone/>
            </a:pPr>
            <a:r>
              <a:rPr lang="en-US" sz="4400" b="1" dirty="0">
                <a:solidFill>
                  <a:srgbClr val="E55934"/>
                </a:solidFill>
                <a:latin typeface="Calibri" pitchFamily="34" charset="0"/>
                <a:ea typeface="Calibri" pitchFamily="34" charset="-122"/>
                <a:cs typeface="Calibri" pitchFamily="34" charset="-120"/>
              </a:rPr>
              <a:t>50%+</a:t>
            </a:r>
            <a:endParaRPr lang="en-US" sz="4400" dirty="0"/>
          </a:p>
        </p:txBody>
      </p:sp>
      <p:sp>
        <p:nvSpPr>
          <p:cNvPr id="19" name="Text 17"/>
          <p:cNvSpPr/>
          <p:nvPr/>
        </p:nvSpPr>
        <p:spPr>
          <a:xfrm>
            <a:off x="9006840" y="2606040"/>
            <a:ext cx="2743200" cy="365760"/>
          </a:xfrm>
          <a:prstGeom prst="rect">
            <a:avLst/>
          </a:prstGeom>
          <a:noFill/>
          <a:ln/>
        </p:spPr>
        <p:txBody>
          <a:bodyPr wrap="square"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cierran antes de 3 años</a:t>
            </a:r>
            <a:endParaRPr lang="en-US" sz="1200" dirty="0"/>
          </a:p>
        </p:txBody>
      </p:sp>
      <p:sp>
        <p:nvSpPr>
          <p:cNvPr id="20" name="Text 18"/>
          <p:cNvSpPr/>
          <p:nvPr/>
        </p:nvSpPr>
        <p:spPr>
          <a:xfrm>
            <a:off x="9006840" y="2971800"/>
            <a:ext cx="2743200" cy="22860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Achiga 2024</a:t>
            </a:r>
            <a:endParaRPr lang="en-US" sz="900" dirty="0"/>
          </a:p>
        </p:txBody>
      </p:sp>
      <p:sp>
        <p:nvSpPr>
          <p:cNvPr id="21" name="Text 19"/>
          <p:cNvSpPr/>
          <p:nvPr/>
        </p:nvSpPr>
        <p:spPr>
          <a:xfrm>
            <a:off x="365760" y="3566160"/>
            <a:ext cx="1143000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Tendencias relevantes para este formato:</a:t>
            </a:r>
            <a:endParaRPr lang="en-US" sz="1400" dirty="0"/>
          </a:p>
        </p:txBody>
      </p:sp>
      <p:sp>
        <p:nvSpPr>
          <p:cNvPr id="22" name="Text 20"/>
          <p:cNvSpPr/>
          <p:nvPr/>
        </p:nvSpPr>
        <p:spPr>
          <a:xfrm>
            <a:off x="365760" y="3931920"/>
            <a:ext cx="11430000" cy="2103120"/>
          </a:xfrm>
          <a:prstGeom prst="rect">
            <a:avLst/>
          </a:prstGeom>
          <a:noFill/>
          <a:ln/>
        </p:spPr>
        <p:txBody>
          <a:bodyPr wrap="square" rtlCol="0" anchor="ctr"/>
          <a:lstStyle/>
          <a:p>
            <a:pPr indent="0" marL="0">
              <a:buNone/>
            </a:pPr>
            <a:r>
              <a:rPr lang="en-US" sz="1300" dirty="0">
                <a:solidFill>
                  <a:srgbClr val="4B5563"/>
                </a:solidFill>
                <a:latin typeface="Calibri" pitchFamily="34" charset="0"/>
                <a:ea typeface="Calibri" pitchFamily="34" charset="-122"/>
                <a:cs typeface="Calibri" pitchFamily="34" charset="-120"/>
              </a:rPr>
              <a:t>• Formato to-go: el 42% de las transacciones en cafés post-2022 son take-away (vs. 28% pre-COVID), favoreciendo formatos compactos sin servicio en mesa
</a:t>
            </a:r>
            <a:pPr indent="0" marL="0">
              <a:buNone/>
            </a:pPr>
            <a:r>
              <a:rPr lang="en-US" sz="1300" dirty="0">
                <a:solidFill>
                  <a:srgbClr val="4B5563"/>
                </a:solidFill>
                <a:latin typeface="Calibri" pitchFamily="34" charset="0"/>
                <a:ea typeface="Calibri" pitchFamily="34" charset="-122"/>
                <a:cs typeface="Calibri" pitchFamily="34" charset="-120"/>
              </a:rPr>
              <a:t>• Consumo de café en Chile creciendo a 4-6% anual, impulsado por espresso (32% del share) y café de especialidad (15%)
</a:t>
            </a:r>
            <a:pPr indent="0" marL="0">
              <a:buNone/>
            </a:pPr>
            <a:r>
              <a:rPr lang="en-US" sz="1300" dirty="0">
                <a:solidFill>
                  <a:srgbClr val="4B5563"/>
                </a:solidFill>
                <a:latin typeface="Calibri" pitchFamily="34" charset="0"/>
                <a:ea typeface="Calibri" pitchFamily="34" charset="-122"/>
                <a:cs typeface="Calibri" pitchFamily="34" charset="-120"/>
              </a:rPr>
              <a:t>• Ticket promedio cafetería en Chile: $3.500 (Procafé 2024)
</a:t>
            </a:r>
            <a:pPr indent="0" marL="0">
              <a:buNone/>
            </a:pPr>
            <a:r>
              <a:rPr lang="en-US" sz="1300" b="1" dirty="0">
                <a:solidFill>
                  <a:srgbClr val="EF4444"/>
                </a:solidFill>
                <a:latin typeface="Calibri" pitchFamily="34" charset="0"/>
                <a:ea typeface="Calibri" pitchFamily="34" charset="-122"/>
                <a:cs typeface="Calibri" pitchFamily="34" charset="-120"/>
              </a:rPr>
              <a:t>• Densidad de competencia en zonas premium RM: 60-145 cafés/km² </a:t>
            </a:r>
            <a:pPr indent="0" marL="0">
              <a:buNone/>
            </a:pPr>
            <a:r>
              <a:rPr lang="en-US" sz="1300" dirty="0">
                <a:solidFill>
                  <a:srgbClr val="4B5563"/>
                </a:solidFill>
                <a:latin typeface="Calibri" pitchFamily="34" charset="0"/>
                <a:ea typeface="Calibri" pitchFamily="34" charset="-122"/>
                <a:cs typeface="Calibri" pitchFamily="34" charset="-120"/>
              </a:rPr>
              <a:t>— factor crítico de localización</a:t>
            </a:r>
            <a:endParaRPr lang="en-US" sz="1300" dirty="0"/>
          </a:p>
        </p:txBody>
      </p:sp>
      <p:sp>
        <p:nvSpPr>
          <p:cNvPr id="23" name="Text 21"/>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4" name="Text 22"/>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COMPETIDORES</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Competencia identificada por zona (OpenStreetMap + Achiga)</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11430000" cy="914400"/>
        </p:xfrm>
        <a:graphic>
          <a:graphicData uri="http://schemas.openxmlformats.org/drawingml/2006/table">
            <a:tbl>
              <a:tblPr/>
              <a:tblGrid>
                <a:gridCol w="3200400"/>
                <a:gridCol w="1828800"/>
                <a:gridCol w="5029200"/>
                <a:gridCol w="137160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Zona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Densidad cafés/km²</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Cadenas presentes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Penalización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El Golf · 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Starbucks · Juan Valdez · Café Capital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Providencia · Pedro de Valdivia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Starbucks · Juan Valdez · Tavelli · Bonafide · Coppelia</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Vitacura · Alonso de Córdova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Starbucks · Café Wonderland · Coppelia</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Ñuñoa · Plaza Ñuñoa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Wonderland · Hábito · Tavelli · independientes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4B5563"/>
                          </a:solidFill>
                          <a:latin typeface="Calibri" pitchFamily="34" charset="0"/>
                          <a:ea typeface="Calibri" pitchFamily="34" charset="-122"/>
                          <a:cs typeface="Calibri" pitchFamily="34" charset="-120"/>
                        </a:rPr>
                        <a:t>sin penal.</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Apoquindo / El Bosque · 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78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Starbucks · Juan Valdez · Tavelli · Café Capital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Estación Central · USACH</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Caribe · Haití · sandwicherías USACH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4B5563"/>
                          </a:solidFill>
                          <a:latin typeface="Calibri" pitchFamily="34" charset="0"/>
                          <a:ea typeface="Calibri" pitchFamily="34" charset="-122"/>
                          <a:cs typeface="Calibri" pitchFamily="34" charset="-120"/>
                        </a:rPr>
                        <a:t>sin penal.</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Santiago Centro · Ahumada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Starbucks ×4 · Juan Valdez ×3 · Caribe · Haití · Brasil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365760" y="5760720"/>
            <a:ext cx="11430000" cy="640080"/>
          </a:xfrm>
          <a:prstGeom prst="rect">
            <a:avLst/>
          </a:prstGeom>
          <a:noFill/>
          <a:ln/>
        </p:spPr>
        <p:txBody>
          <a:bodyPr wrap="square" rtlCol="0" anchor="ctr"/>
          <a:lstStyle/>
          <a:p>
            <a:pPr indent="0" marL="0">
              <a:buNone/>
            </a:pPr>
            <a:r>
              <a:rPr lang="en-US" sz="1100" b="1" i="1" dirty="0">
                <a:solidFill>
                  <a:srgbClr val="E55934"/>
                </a:solidFill>
                <a:latin typeface="Calibri" pitchFamily="34" charset="0"/>
                <a:ea typeface="Calibri" pitchFamily="34" charset="-122"/>
                <a:cs typeface="Calibri" pitchFamily="34" charset="-120"/>
              </a:rPr>
              <a:t>Modelo de penalización: </a:t>
            </a:r>
            <a:pPr indent="0" marL="0">
              <a:buNone/>
            </a:pPr>
            <a:r>
              <a:rPr lang="en-US" sz="1100" i="1" dirty="0">
                <a:solidFill>
                  <a:srgbClr val="4B5563"/>
                </a:solidFill>
                <a:latin typeface="Calibri" pitchFamily="34" charset="0"/>
                <a:ea typeface="Calibri" pitchFamily="34" charset="-122"/>
                <a:cs typeface="Calibri" pitchFamily="34" charset="-120"/>
              </a:rPr>
              <a:t>factor = min(1, √(50 / densidad_km²)). Refleja "fair share competitivo": el flujo peatonal se reparte entre los cafés del radio. Una densidad de 145/km² (Santiago Centro) penaliza la captura efectiva en 41%. Una densidad ≤ 50 (Plaza Ñuñoa, Estación Central) no penaliza.</a:t>
            </a:r>
            <a:endParaRPr lang="en-US" sz="1100" dirty="0"/>
          </a:p>
        </p:txBody>
      </p:sp>
      <p:sp>
        <p:nvSpPr>
          <p:cNvPr id="7" name="Text 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8" name="Text 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MARCO NORMATIVO</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Cumplimiento regulatorio chileno aplicable</a:t>
            </a:r>
            <a:endParaRPr lang="en-US" sz="2800" dirty="0"/>
          </a:p>
        </p:txBody>
      </p:sp>
      <p:sp>
        <p:nvSpPr>
          <p:cNvPr id="5" name="Shape 3"/>
          <p:cNvSpPr/>
          <p:nvPr/>
        </p:nvSpPr>
        <p:spPr>
          <a:xfrm>
            <a:off x="365760" y="1554480"/>
            <a:ext cx="5486400" cy="2103120"/>
          </a:xfrm>
          <a:prstGeom prst="rect">
            <a:avLst/>
          </a:prstGeom>
          <a:solidFill>
            <a:srgbClr val="F7F4ED"/>
          </a:solidFill>
          <a:ln w="12700">
            <a:solidFill>
              <a:srgbClr val="E5E7EB"/>
            </a:solidFill>
            <a:prstDash val="solid"/>
          </a:ln>
        </p:spPr>
      </p:sp>
      <p:sp>
        <p:nvSpPr>
          <p:cNvPr id="6" name="Text 4"/>
          <p:cNvSpPr/>
          <p:nvPr/>
        </p:nvSpPr>
        <p:spPr>
          <a:xfrm>
            <a:off x="548640" y="1691640"/>
            <a:ext cx="5120640" cy="365760"/>
          </a:xfrm>
          <a:prstGeom prst="rect">
            <a:avLst/>
          </a:prstGeom>
          <a:noFill/>
          <a:ln/>
        </p:spPr>
        <p:txBody>
          <a:bodyPr wrap="square" rtlCol="0" anchor="ctr"/>
          <a:lstStyle/>
          <a:p>
            <a:pPr indent="0" marL="0">
              <a:buNone/>
            </a:pPr>
            <a:r>
              <a:rPr lang="en-US" sz="1600" b="1" dirty="0">
                <a:solidFill>
                  <a:srgbClr val="E55934"/>
                </a:solidFill>
                <a:latin typeface="Calibri" pitchFamily="34" charset="0"/>
                <a:ea typeface="Calibri" pitchFamily="34" charset="-122"/>
                <a:cs typeface="Calibri" pitchFamily="34" charset="-120"/>
              </a:rPr>
              <a:t>Tributario</a:t>
            </a:r>
            <a:endParaRPr lang="en-US" sz="1600" dirty="0"/>
          </a:p>
        </p:txBody>
      </p:sp>
      <p:sp>
        <p:nvSpPr>
          <p:cNvPr id="7" name="Text 5"/>
          <p:cNvSpPr/>
          <p:nvPr/>
        </p:nvSpPr>
        <p:spPr>
          <a:xfrm>
            <a:off x="548640" y="210312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SII Pro PYME 14 D N° 3 (impuesto 25%)</a:t>
            </a:r>
            <a:endParaRPr lang="en-US" sz="1100" dirty="0"/>
          </a:p>
        </p:txBody>
      </p:sp>
      <p:sp>
        <p:nvSpPr>
          <p:cNvPr id="8" name="Text 6"/>
          <p:cNvSpPr/>
          <p:nvPr/>
        </p:nvSpPr>
        <p:spPr>
          <a:xfrm>
            <a:off x="548640" y="246888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IVA 19% (DL 825/74)</a:t>
            </a:r>
            <a:endParaRPr lang="en-US" sz="1100" dirty="0"/>
          </a:p>
        </p:txBody>
      </p:sp>
      <p:sp>
        <p:nvSpPr>
          <p:cNvPr id="9" name="Text 7"/>
          <p:cNvSpPr/>
          <p:nvPr/>
        </p:nvSpPr>
        <p:spPr>
          <a:xfrm>
            <a:off x="548640" y="283464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Código de actividad 561010</a:t>
            </a:r>
            <a:endParaRPr lang="en-US" sz="1100" dirty="0"/>
          </a:p>
        </p:txBody>
      </p:sp>
      <p:sp>
        <p:nvSpPr>
          <p:cNvPr id="10" name="Shape 8"/>
          <p:cNvSpPr/>
          <p:nvPr/>
        </p:nvSpPr>
        <p:spPr>
          <a:xfrm>
            <a:off x="6217920" y="1554480"/>
            <a:ext cx="5486400" cy="2103120"/>
          </a:xfrm>
          <a:prstGeom prst="rect">
            <a:avLst/>
          </a:prstGeom>
          <a:solidFill>
            <a:srgbClr val="F7F4ED"/>
          </a:solidFill>
          <a:ln w="12700">
            <a:solidFill>
              <a:srgbClr val="E5E7EB"/>
            </a:solidFill>
            <a:prstDash val="solid"/>
          </a:ln>
        </p:spPr>
      </p:sp>
      <p:sp>
        <p:nvSpPr>
          <p:cNvPr id="11" name="Text 9"/>
          <p:cNvSpPr/>
          <p:nvPr/>
        </p:nvSpPr>
        <p:spPr>
          <a:xfrm>
            <a:off x="6400800" y="1691640"/>
            <a:ext cx="5120640" cy="365760"/>
          </a:xfrm>
          <a:prstGeom prst="rect">
            <a:avLst/>
          </a:prstGeom>
          <a:noFill/>
          <a:ln/>
        </p:spPr>
        <p:txBody>
          <a:bodyPr wrap="square" rtlCol="0" anchor="ctr"/>
          <a:lstStyle/>
          <a:p>
            <a:pPr indent="0" marL="0">
              <a:buNone/>
            </a:pPr>
            <a:r>
              <a:rPr lang="en-US" sz="1600" b="1" dirty="0">
                <a:solidFill>
                  <a:srgbClr val="E55934"/>
                </a:solidFill>
                <a:latin typeface="Calibri" pitchFamily="34" charset="0"/>
                <a:ea typeface="Calibri" pitchFamily="34" charset="-122"/>
                <a:cs typeface="Calibri" pitchFamily="34" charset="-120"/>
              </a:rPr>
              <a:t>Sanitario</a:t>
            </a:r>
            <a:endParaRPr lang="en-US" sz="1600" dirty="0"/>
          </a:p>
        </p:txBody>
      </p:sp>
      <p:sp>
        <p:nvSpPr>
          <p:cNvPr id="12" name="Text 10"/>
          <p:cNvSpPr/>
          <p:nvPr/>
        </p:nvSpPr>
        <p:spPr>
          <a:xfrm>
            <a:off x="6400800" y="210312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SEREMI Salud "manipulación mínima"</a:t>
            </a:r>
            <a:endParaRPr lang="en-US" sz="1100" dirty="0"/>
          </a:p>
        </p:txBody>
      </p:sp>
      <p:sp>
        <p:nvSpPr>
          <p:cNvPr id="13" name="Text 11"/>
          <p:cNvSpPr/>
          <p:nvPr/>
        </p:nvSpPr>
        <p:spPr>
          <a:xfrm>
            <a:off x="6400800" y="246888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Curso manipulador alimentos OTEC (10h)</a:t>
            </a:r>
            <a:endParaRPr lang="en-US" sz="1100" dirty="0"/>
          </a:p>
        </p:txBody>
      </p:sp>
      <p:sp>
        <p:nvSpPr>
          <p:cNvPr id="14" name="Text 12"/>
          <p:cNvSpPr/>
          <p:nvPr/>
        </p:nvSpPr>
        <p:spPr>
          <a:xfrm>
            <a:off x="6400800" y="283464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Resolución sanitaria local</a:t>
            </a:r>
            <a:endParaRPr lang="en-US" sz="1100" dirty="0"/>
          </a:p>
        </p:txBody>
      </p:sp>
      <p:sp>
        <p:nvSpPr>
          <p:cNvPr id="15" name="Shape 13"/>
          <p:cNvSpPr/>
          <p:nvPr/>
        </p:nvSpPr>
        <p:spPr>
          <a:xfrm>
            <a:off x="365760" y="3931920"/>
            <a:ext cx="5486400" cy="2103120"/>
          </a:xfrm>
          <a:prstGeom prst="rect">
            <a:avLst/>
          </a:prstGeom>
          <a:solidFill>
            <a:srgbClr val="F7F4ED"/>
          </a:solidFill>
          <a:ln w="12700">
            <a:solidFill>
              <a:srgbClr val="E5E7EB"/>
            </a:solidFill>
            <a:prstDash val="solid"/>
          </a:ln>
        </p:spPr>
      </p:sp>
      <p:sp>
        <p:nvSpPr>
          <p:cNvPr id="16" name="Text 14"/>
          <p:cNvSpPr/>
          <p:nvPr/>
        </p:nvSpPr>
        <p:spPr>
          <a:xfrm>
            <a:off x="548640" y="4069080"/>
            <a:ext cx="5120640" cy="365760"/>
          </a:xfrm>
          <a:prstGeom prst="rect">
            <a:avLst/>
          </a:prstGeom>
          <a:noFill/>
          <a:ln/>
        </p:spPr>
        <p:txBody>
          <a:bodyPr wrap="square" rtlCol="0" anchor="ctr"/>
          <a:lstStyle/>
          <a:p>
            <a:pPr indent="0" marL="0">
              <a:buNone/>
            </a:pPr>
            <a:r>
              <a:rPr lang="en-US" sz="1600" b="1" dirty="0">
                <a:solidFill>
                  <a:srgbClr val="E55934"/>
                </a:solidFill>
                <a:latin typeface="Calibri" pitchFamily="34" charset="0"/>
                <a:ea typeface="Calibri" pitchFamily="34" charset="-122"/>
                <a:cs typeface="Calibri" pitchFamily="34" charset="-120"/>
              </a:rPr>
              <a:t>Laboral</a:t>
            </a:r>
            <a:endParaRPr lang="en-US" sz="1600" dirty="0"/>
          </a:p>
        </p:txBody>
      </p:sp>
      <p:sp>
        <p:nvSpPr>
          <p:cNvPr id="17" name="Text 15"/>
          <p:cNvSpPr/>
          <p:nvPr/>
        </p:nvSpPr>
        <p:spPr>
          <a:xfrm>
            <a:off x="548640" y="448056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Código del Trabajo Art. 50 (gratificación 25%)</a:t>
            </a:r>
            <a:endParaRPr lang="en-US" sz="1100" dirty="0"/>
          </a:p>
        </p:txBody>
      </p:sp>
      <p:sp>
        <p:nvSpPr>
          <p:cNvPr id="18" name="Text 16"/>
          <p:cNvSpPr/>
          <p:nvPr/>
        </p:nvSpPr>
        <p:spPr>
          <a:xfrm>
            <a:off x="548640" y="484632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AFC 2,4% empleador (Ley 19.728)</a:t>
            </a:r>
            <a:endParaRPr lang="en-US" sz="1100" dirty="0"/>
          </a:p>
        </p:txBody>
      </p:sp>
      <p:sp>
        <p:nvSpPr>
          <p:cNvPr id="19" name="Text 17"/>
          <p:cNvSpPr/>
          <p:nvPr/>
        </p:nvSpPr>
        <p:spPr>
          <a:xfrm>
            <a:off x="548640" y="521208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SIS 1,85% (Ley 20.255)</a:t>
            </a:r>
            <a:endParaRPr lang="en-US" sz="1100" dirty="0"/>
          </a:p>
        </p:txBody>
      </p:sp>
      <p:sp>
        <p:nvSpPr>
          <p:cNvPr id="20" name="Shape 18"/>
          <p:cNvSpPr/>
          <p:nvPr/>
        </p:nvSpPr>
        <p:spPr>
          <a:xfrm>
            <a:off x="6217920" y="3931920"/>
            <a:ext cx="5486400" cy="2103120"/>
          </a:xfrm>
          <a:prstGeom prst="rect">
            <a:avLst/>
          </a:prstGeom>
          <a:solidFill>
            <a:srgbClr val="F7F4ED"/>
          </a:solidFill>
          <a:ln w="12700">
            <a:solidFill>
              <a:srgbClr val="E5E7EB"/>
            </a:solidFill>
            <a:prstDash val="solid"/>
          </a:ln>
        </p:spPr>
      </p:sp>
      <p:sp>
        <p:nvSpPr>
          <p:cNvPr id="21" name="Text 19"/>
          <p:cNvSpPr/>
          <p:nvPr/>
        </p:nvSpPr>
        <p:spPr>
          <a:xfrm>
            <a:off x="6400800" y="4069080"/>
            <a:ext cx="5120640" cy="365760"/>
          </a:xfrm>
          <a:prstGeom prst="rect">
            <a:avLst/>
          </a:prstGeom>
          <a:noFill/>
          <a:ln/>
        </p:spPr>
        <p:txBody>
          <a:bodyPr wrap="square" rtlCol="0" anchor="ctr"/>
          <a:lstStyle/>
          <a:p>
            <a:pPr indent="0" marL="0">
              <a:buNone/>
            </a:pPr>
            <a:r>
              <a:rPr lang="en-US" sz="1600" b="1" dirty="0">
                <a:solidFill>
                  <a:srgbClr val="E55934"/>
                </a:solidFill>
                <a:latin typeface="Calibri" pitchFamily="34" charset="0"/>
                <a:ea typeface="Calibri" pitchFamily="34" charset="-122"/>
                <a:cs typeface="Calibri" pitchFamily="34" charset="-120"/>
              </a:rPr>
              <a:t>Comercial</a:t>
            </a:r>
            <a:endParaRPr lang="en-US" sz="1600" dirty="0"/>
          </a:p>
        </p:txBody>
      </p:sp>
      <p:sp>
        <p:nvSpPr>
          <p:cNvPr id="22" name="Text 20"/>
          <p:cNvSpPr/>
          <p:nvPr/>
        </p:nvSpPr>
        <p:spPr>
          <a:xfrm>
            <a:off x="6400800" y="448056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Patente comercial municipal</a:t>
            </a:r>
            <a:endParaRPr lang="en-US" sz="1100" dirty="0"/>
          </a:p>
        </p:txBody>
      </p:sp>
      <p:sp>
        <p:nvSpPr>
          <p:cNvPr id="23" name="Text 21"/>
          <p:cNvSpPr/>
          <p:nvPr/>
        </p:nvSpPr>
        <p:spPr>
          <a:xfrm>
            <a:off x="6400800" y="484632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Permiso de obra menor (DOM)</a:t>
            </a:r>
            <a:endParaRPr lang="en-US" sz="1100" dirty="0"/>
          </a:p>
        </p:txBody>
      </p:sp>
      <p:sp>
        <p:nvSpPr>
          <p:cNvPr id="24" name="Text 22"/>
          <p:cNvSpPr/>
          <p:nvPr/>
        </p:nvSpPr>
        <p:spPr>
          <a:xfrm>
            <a:off x="6400800" y="5212080"/>
            <a:ext cx="5120640" cy="32004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 Contrato arriendo notarial 3-5 años</a:t>
            </a:r>
            <a:endParaRPr lang="en-US" sz="1100" dirty="0"/>
          </a:p>
        </p:txBody>
      </p:sp>
      <p:sp>
        <p:nvSpPr>
          <p:cNvPr id="25" name="Text 23"/>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6" name="Text 24"/>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LOCALIZACIÓN</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Las 7 zonas evaluadas en la Región Metropolitana</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11430000" cy="914400"/>
        </p:xfrm>
        <a:graphic>
          <a:graphicData uri="http://schemas.openxmlformats.org/drawingml/2006/table">
            <a:tbl>
              <a:tblPr/>
              <a:tblGrid>
                <a:gridCol w="3200400"/>
                <a:gridCol w="1828800"/>
                <a:gridCol w="1828800"/>
                <a:gridCol w="1371600"/>
                <a:gridCol w="1554480"/>
                <a:gridCol w="16459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Zona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Comuna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Flujo peatonal/día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Ticket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Arriendo UF/m²</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Perfil horario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El Golf</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28.000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$4.500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Providencia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Providencia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38.000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$3.700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Vitacura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Vitacura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22.000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$4.200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Ñuñoa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Ñuñoa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24.000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$3.300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0.48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Apoquindo / El Bosque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35.000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$3.800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Estación Central</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Estación Central</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42.000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$2.700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0.38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Santiago Centro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Santiago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95.000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$2.900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365760" y="5212080"/>
            <a:ext cx="11430000" cy="731520"/>
          </a:xfrm>
          <a:prstGeom prst="rect">
            <a:avLst/>
          </a:prstGeom>
          <a:noFill/>
          <a:ln/>
        </p:spPr>
        <p:txBody>
          <a:bodyPr wrap="square" rtlCol="0" anchor="ctr"/>
          <a:lstStyle/>
          <a:p>
            <a:pPr indent="0" marL="0">
              <a:buNone/>
            </a:pPr>
            <a:r>
              <a:rPr lang="en-US" sz="1100" b="1" i="1" dirty="0">
                <a:solidFill>
                  <a:srgbClr val="0B3D5C"/>
                </a:solidFill>
                <a:latin typeface="Calibri" pitchFamily="34" charset="0"/>
                <a:ea typeface="Calibri" pitchFamily="34" charset="-122"/>
                <a:cs typeface="Calibri" pitchFamily="34" charset="-120"/>
              </a:rPr>
              <a:t>Fuentes: </a:t>
            </a:r>
            <a:pPr indent="0" marL="0">
              <a:buNone/>
            </a:pPr>
            <a:r>
              <a:rPr lang="en-US" sz="1100" i="1" dirty="0">
                <a:solidFill>
                  <a:srgbClr val="4B5563"/>
                </a:solidFill>
                <a:latin typeface="Calibri" pitchFamily="34" charset="0"/>
                <a:ea typeface="Calibri" pitchFamily="34" charset="-122"/>
                <a:cs typeface="Calibri" pitchFamily="34" charset="-120"/>
              </a:rPr>
              <a:t>Mercado Libre · Portalinmobiliario · Toctoc · Colliers Chile Q3 2025 (arriendos) · OpenStreetMap (densidad competencia) · Achiga 2024 (ticket promedio sectorial) · INE Censo 2017 + Proyección 2024 (perfilamiento poblacional).</a:t>
            </a:r>
            <a:endParaRPr lang="en-US" sz="1100" dirty="0"/>
          </a:p>
        </p:txBody>
      </p:sp>
      <p:sp>
        <p:nvSpPr>
          <p:cNvPr id="7" name="Text 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8" name="Text 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MODELO DE DEMANDA</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Combos día = Flujo × Captura × Competencia × Ramp-up</a:t>
            </a:r>
            <a:endParaRPr lang="en-US" sz="2800" dirty="0"/>
          </a:p>
        </p:txBody>
      </p:sp>
      <p:sp>
        <p:nvSpPr>
          <p:cNvPr id="5" name="Text 3"/>
          <p:cNvSpPr/>
          <p:nvPr/>
        </p:nvSpPr>
        <p:spPr>
          <a:xfrm>
            <a:off x="365760" y="1143000"/>
            <a:ext cx="11430000" cy="365760"/>
          </a:xfrm>
          <a:prstGeom prst="rect">
            <a:avLst/>
          </a:prstGeom>
          <a:noFill/>
          <a:ln/>
        </p:spPr>
        <p:txBody>
          <a:bodyPr wrap="square" rtlCol="0" anchor="ctr"/>
          <a:lstStyle/>
          <a:p>
            <a:pPr indent="0" marL="0">
              <a:buNone/>
            </a:pPr>
            <a:r>
              <a:rPr lang="en-US" sz="1400" i="1" dirty="0">
                <a:solidFill>
                  <a:srgbClr val="4B5563"/>
                </a:solidFill>
                <a:latin typeface="Calibri" pitchFamily="34" charset="0"/>
                <a:ea typeface="Calibri" pitchFamily="34" charset="-122"/>
                <a:cs typeface="Calibri" pitchFamily="34" charset="-120"/>
              </a:rPr>
              <a:t>Cuatro factores reales del retail food chileno, no atajos numéricos</a:t>
            </a:r>
            <a:endParaRPr lang="en-US" sz="1400" dirty="0"/>
          </a:p>
        </p:txBody>
      </p:sp>
      <p:sp>
        <p:nvSpPr>
          <p:cNvPr id="6" name="Shape 4"/>
          <p:cNvSpPr/>
          <p:nvPr/>
        </p:nvSpPr>
        <p:spPr>
          <a:xfrm>
            <a:off x="365760" y="1828800"/>
            <a:ext cx="2743200" cy="1828800"/>
          </a:xfrm>
          <a:prstGeom prst="rect">
            <a:avLst/>
          </a:prstGeom>
          <a:solidFill>
            <a:srgbClr val="0B3D5C"/>
          </a:solidFill>
          <a:ln/>
        </p:spPr>
      </p:sp>
      <p:sp>
        <p:nvSpPr>
          <p:cNvPr id="7" name="Text 5"/>
          <p:cNvSpPr/>
          <p:nvPr/>
        </p:nvSpPr>
        <p:spPr>
          <a:xfrm>
            <a:off x="457200" y="1965960"/>
            <a:ext cx="25603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Flujo peatonal</a:t>
            </a:r>
            <a:endParaRPr lang="en-US" sz="1400" dirty="0"/>
          </a:p>
        </p:txBody>
      </p:sp>
      <p:sp>
        <p:nvSpPr>
          <p:cNvPr id="8" name="Text 6"/>
          <p:cNvSpPr/>
          <p:nvPr/>
        </p:nvSpPr>
        <p:spPr>
          <a:xfrm>
            <a:off x="457200" y="2377440"/>
            <a:ext cx="2560320" cy="5486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OSM + EOD SECTRA</a:t>
            </a:r>
            <a:endParaRPr lang="en-US" sz="1100" dirty="0"/>
          </a:p>
        </p:txBody>
      </p:sp>
      <p:sp>
        <p:nvSpPr>
          <p:cNvPr id="9" name="Text 7"/>
          <p:cNvSpPr/>
          <p:nvPr/>
        </p:nvSpPr>
        <p:spPr>
          <a:xfrm>
            <a:off x="457200" y="3017520"/>
            <a:ext cx="256032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p/día</a:t>
            </a:r>
            <a:endParaRPr lang="en-US" sz="1800" dirty="0"/>
          </a:p>
        </p:txBody>
      </p:sp>
      <p:sp>
        <p:nvSpPr>
          <p:cNvPr id="10" name="Text 8"/>
          <p:cNvSpPr/>
          <p:nvPr/>
        </p:nvSpPr>
        <p:spPr>
          <a:xfrm>
            <a:off x="3063240" y="2468880"/>
            <a:ext cx="274320" cy="548640"/>
          </a:xfrm>
          <a:prstGeom prst="rect">
            <a:avLst/>
          </a:prstGeom>
          <a:noFill/>
          <a:ln/>
        </p:spPr>
        <p:txBody>
          <a:bodyPr wrap="square" rtlCol="0" anchor="ctr"/>
          <a:lstStyle/>
          <a:p>
            <a:pPr algn="ctr" indent="0" marL="0">
              <a:buNone/>
            </a:pPr>
            <a:r>
              <a:rPr lang="en-US" sz="2400" b="1" dirty="0">
                <a:solidFill>
                  <a:srgbClr val="1F2937"/>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246120" y="1828800"/>
            <a:ext cx="2743200" cy="1828800"/>
          </a:xfrm>
          <a:prstGeom prst="rect">
            <a:avLst/>
          </a:prstGeom>
          <a:solidFill>
            <a:srgbClr val="E55934"/>
          </a:solidFill>
          <a:ln/>
        </p:spPr>
      </p:sp>
      <p:sp>
        <p:nvSpPr>
          <p:cNvPr id="12" name="Text 10"/>
          <p:cNvSpPr/>
          <p:nvPr/>
        </p:nvSpPr>
        <p:spPr>
          <a:xfrm>
            <a:off x="3337560" y="1965960"/>
            <a:ext cx="25603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Tasa captura</a:t>
            </a:r>
            <a:endParaRPr lang="en-US" sz="1400" dirty="0"/>
          </a:p>
        </p:txBody>
      </p:sp>
      <p:sp>
        <p:nvSpPr>
          <p:cNvPr id="13" name="Text 11"/>
          <p:cNvSpPr/>
          <p:nvPr/>
        </p:nvSpPr>
        <p:spPr>
          <a:xfrm>
            <a:off x="3337560" y="2377440"/>
            <a:ext cx="2560320" cy="5486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Procafé 0.20-0.65%</a:t>
            </a:r>
            <a:endParaRPr lang="en-US" sz="1100" dirty="0"/>
          </a:p>
        </p:txBody>
      </p:sp>
      <p:sp>
        <p:nvSpPr>
          <p:cNvPr id="14" name="Text 12"/>
          <p:cNvSpPr/>
          <p:nvPr/>
        </p:nvSpPr>
        <p:spPr>
          <a:xfrm>
            <a:off x="3337560" y="3017520"/>
            <a:ext cx="256032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~0.5%</a:t>
            </a:r>
            <a:endParaRPr lang="en-US" sz="1800" dirty="0"/>
          </a:p>
        </p:txBody>
      </p:sp>
      <p:sp>
        <p:nvSpPr>
          <p:cNvPr id="15" name="Text 13"/>
          <p:cNvSpPr/>
          <p:nvPr/>
        </p:nvSpPr>
        <p:spPr>
          <a:xfrm>
            <a:off x="5943600" y="2468880"/>
            <a:ext cx="274320" cy="548640"/>
          </a:xfrm>
          <a:prstGeom prst="rect">
            <a:avLst/>
          </a:prstGeom>
          <a:noFill/>
          <a:ln/>
        </p:spPr>
        <p:txBody>
          <a:bodyPr wrap="square" rtlCol="0" anchor="ctr"/>
          <a:lstStyle/>
          <a:p>
            <a:pPr algn="ctr" indent="0" marL="0">
              <a:buNone/>
            </a:pPr>
            <a:r>
              <a:rPr lang="en-US" sz="2400" b="1" dirty="0">
                <a:solidFill>
                  <a:srgbClr val="1F2937"/>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126480" y="1828800"/>
            <a:ext cx="2743200" cy="1828800"/>
          </a:xfrm>
          <a:prstGeom prst="rect">
            <a:avLst/>
          </a:prstGeom>
          <a:solidFill>
            <a:srgbClr val="EF4444"/>
          </a:solidFill>
          <a:ln/>
        </p:spPr>
      </p:sp>
      <p:sp>
        <p:nvSpPr>
          <p:cNvPr id="17" name="Text 15"/>
          <p:cNvSpPr/>
          <p:nvPr/>
        </p:nvSpPr>
        <p:spPr>
          <a:xfrm>
            <a:off x="6217920" y="1965960"/>
            <a:ext cx="25603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Competencia</a:t>
            </a:r>
            <a:endParaRPr lang="en-US" sz="1400" dirty="0"/>
          </a:p>
        </p:txBody>
      </p:sp>
      <p:sp>
        <p:nvSpPr>
          <p:cNvPr id="18" name="Text 16"/>
          <p:cNvSpPr/>
          <p:nvPr/>
        </p:nvSpPr>
        <p:spPr>
          <a:xfrm>
            <a:off x="6217920" y="2377440"/>
            <a:ext cx="2560320" cy="5486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√(50 / cafés/km²)</a:t>
            </a:r>
            <a:endParaRPr lang="en-US" sz="1100" dirty="0"/>
          </a:p>
        </p:txBody>
      </p:sp>
      <p:sp>
        <p:nvSpPr>
          <p:cNvPr id="19" name="Text 17"/>
          <p:cNvSpPr/>
          <p:nvPr/>
        </p:nvSpPr>
        <p:spPr>
          <a:xfrm>
            <a:off x="6217920" y="3017520"/>
            <a:ext cx="256032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0.59-1.0</a:t>
            </a:r>
            <a:endParaRPr lang="en-US" sz="1800" dirty="0"/>
          </a:p>
        </p:txBody>
      </p:sp>
      <p:sp>
        <p:nvSpPr>
          <p:cNvPr id="20" name="Text 18"/>
          <p:cNvSpPr/>
          <p:nvPr/>
        </p:nvSpPr>
        <p:spPr>
          <a:xfrm>
            <a:off x="8823960" y="2468880"/>
            <a:ext cx="274320" cy="548640"/>
          </a:xfrm>
          <a:prstGeom prst="rect">
            <a:avLst/>
          </a:prstGeom>
          <a:noFill/>
          <a:ln/>
        </p:spPr>
        <p:txBody>
          <a:bodyPr wrap="square" rtlCol="0" anchor="ctr"/>
          <a:lstStyle/>
          <a:p>
            <a:pPr algn="ctr" indent="0" marL="0">
              <a:buNone/>
            </a:pPr>
            <a:r>
              <a:rPr lang="en-US" sz="2400" b="1" dirty="0">
                <a:solidFill>
                  <a:srgbClr val="1F293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9006840" y="1828800"/>
            <a:ext cx="2743200" cy="1828800"/>
          </a:xfrm>
          <a:prstGeom prst="rect">
            <a:avLst/>
          </a:prstGeom>
          <a:solidFill>
            <a:srgbClr val="F59E0B"/>
          </a:solidFill>
          <a:ln/>
        </p:spPr>
      </p:sp>
      <p:sp>
        <p:nvSpPr>
          <p:cNvPr id="22" name="Text 20"/>
          <p:cNvSpPr/>
          <p:nvPr/>
        </p:nvSpPr>
        <p:spPr>
          <a:xfrm>
            <a:off x="9098280" y="1965960"/>
            <a:ext cx="25603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Ramp-up año</a:t>
            </a:r>
            <a:endParaRPr lang="en-US" sz="1400" dirty="0"/>
          </a:p>
        </p:txBody>
      </p:sp>
      <p:sp>
        <p:nvSpPr>
          <p:cNvPr id="23" name="Text 21"/>
          <p:cNvSpPr/>
          <p:nvPr/>
        </p:nvSpPr>
        <p:spPr>
          <a:xfrm>
            <a:off x="9098280" y="2377440"/>
            <a:ext cx="2560320" cy="5486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Achiga: 55% → 100%</a:t>
            </a:r>
            <a:endParaRPr lang="en-US" sz="1100" dirty="0"/>
          </a:p>
        </p:txBody>
      </p:sp>
      <p:sp>
        <p:nvSpPr>
          <p:cNvPr id="24" name="Text 22"/>
          <p:cNvSpPr/>
          <p:nvPr/>
        </p:nvSpPr>
        <p:spPr>
          <a:xfrm>
            <a:off x="9098280" y="3017520"/>
            <a:ext cx="256032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0.55-1.0</a:t>
            </a:r>
            <a:endParaRPr lang="en-US" sz="1800" dirty="0"/>
          </a:p>
        </p:txBody>
      </p:sp>
      <p:sp>
        <p:nvSpPr>
          <p:cNvPr id="25" name="Text 23"/>
          <p:cNvSpPr/>
          <p:nvPr/>
        </p:nvSpPr>
        <p:spPr>
          <a:xfrm>
            <a:off x="365760" y="4114800"/>
            <a:ext cx="11430000" cy="73152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Ejemplo · El Golf: </a:t>
            </a:r>
            <a:pPr indent="0" marL="0">
              <a:buNone/>
            </a:pPr>
            <a:r>
              <a:rPr lang="en-US" sz="1400" dirty="0">
                <a:solidFill>
                  <a:srgbClr val="4B5563"/>
                </a:solidFill>
                <a:latin typeface="Calibri" pitchFamily="34" charset="0"/>
                <a:ea typeface="Calibri" pitchFamily="34" charset="-122"/>
                <a:cs typeface="Calibri" pitchFamily="34" charset="-120"/>
              </a:rPr>
              <a:t>28.000 peatones × 0,55% captura × 0,88 competencia × 0,55 ramp año 1 ≈ </a:t>
            </a:r>
            <a:pPr indent="0" marL="0">
              <a:buNone/>
            </a:pPr>
            <a:r>
              <a:rPr lang="en-US" sz="1800" b="1" dirty="0">
                <a:solidFill>
                  <a:srgbClr val="E55934"/>
                </a:solidFill>
                <a:latin typeface="Calibri" pitchFamily="34" charset="0"/>
                <a:ea typeface="Calibri" pitchFamily="34" charset="-122"/>
                <a:cs typeface="Calibri" pitchFamily="34" charset="-120"/>
              </a:rPr>
              <a:t>75 combos día 1</a:t>
            </a:r>
            <a:pPr indent="0" marL="0">
              <a:buNone/>
            </a:pPr>
            <a:r>
              <a:rPr lang="en-US" sz="1400" dirty="0">
                <a:solidFill>
                  <a:srgbClr val="4B5563"/>
                </a:solidFill>
                <a:latin typeface="Calibri" pitchFamily="34" charset="0"/>
                <a:ea typeface="Calibri" pitchFamily="34" charset="-122"/>
                <a:cs typeface="Calibri" pitchFamily="34" charset="-120"/>
              </a:rPr>
              <a:t> → escalando a 154 combos día 4-5 (madurez)</a:t>
            </a:r>
            <a:endParaRPr lang="en-US" sz="1400" dirty="0"/>
          </a:p>
        </p:txBody>
      </p:sp>
      <p:sp>
        <p:nvSpPr>
          <p:cNvPr id="26" name="Text 24"/>
          <p:cNvSpPr/>
          <p:nvPr/>
        </p:nvSpPr>
        <p:spPr>
          <a:xfrm>
            <a:off x="365760" y="5029200"/>
            <a:ext cx="11430000" cy="914400"/>
          </a:xfrm>
          <a:prstGeom prst="rect">
            <a:avLst/>
          </a:prstGeom>
          <a:noFill/>
          <a:ln/>
        </p:spPr>
        <p:txBody>
          <a:bodyPr wrap="square" rtlCol="0" anchor="ctr"/>
          <a:lstStyle/>
          <a:p>
            <a:pPr indent="0" marL="0">
              <a:buNone/>
            </a:pPr>
            <a:r>
              <a:rPr lang="en-US" sz="1200" b="1" dirty="0">
                <a:solidFill>
                  <a:srgbClr val="0B3D5C"/>
                </a:solidFill>
                <a:latin typeface="Calibri" pitchFamily="34" charset="0"/>
                <a:ea typeface="Calibri" pitchFamily="34" charset="-122"/>
                <a:cs typeface="Calibri" pitchFamily="34" charset="-120"/>
              </a:rPr>
              <a:t>5 perfiles horarios diferenciados: </a:t>
            </a:r>
            <a:pPr indent="0" marL="0">
              <a:buNone/>
            </a:pPr>
            <a:r>
              <a:rPr lang="en-US" sz="1200" dirty="0">
                <a:solidFill>
                  <a:srgbClr val="4B5563"/>
                </a:solidFill>
                <a:latin typeface="Calibri" pitchFamily="34" charset="0"/>
                <a:ea typeface="Calibri" pitchFamily="34" charset="-122"/>
                <a:cs typeface="Calibri" pitchFamily="34" charset="-120"/>
              </a:rPr>
              <a:t>oficina (3 peaks 8h-13h-18h, weekend 30%) · residencial (peak tarde + alto sábado) · transit (peak 7-9 entrada masiva) · universitario (estacional, dic-feb cae 60%) · mixto (combinación)</a:t>
            </a:r>
            <a:endParaRPr lang="en-US" sz="1200" dirty="0"/>
          </a:p>
        </p:txBody>
      </p:sp>
      <p:sp>
        <p:nvSpPr>
          <p:cNvPr id="27" name="Text 25"/>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8" name="Text 26"/>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MODELO FINANCIERO</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Estructura del flujo de caja proyectado a 5 años</a:t>
            </a:r>
            <a:endParaRPr lang="en-US" sz="2800" dirty="0"/>
          </a:p>
        </p:txBody>
      </p:sp>
      <p:sp>
        <p:nvSpPr>
          <p:cNvPr id="5" name="Text 3"/>
          <p:cNvSpPr/>
          <p:nvPr/>
        </p:nvSpPr>
        <p:spPr>
          <a:xfrm>
            <a:off x="365760" y="1554480"/>
            <a:ext cx="566928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ESTRUCTURA DEL FLUJO PURO</a:t>
            </a:r>
            <a:endParaRPr lang="en-US" sz="1400" dirty="0"/>
          </a:p>
        </p:txBody>
      </p:sp>
      <p:sp>
        <p:nvSpPr>
          <p:cNvPr id="6" name="Text 4"/>
          <p:cNvSpPr/>
          <p:nvPr/>
        </p:nvSpPr>
        <p:spPr>
          <a:xfrm>
            <a:off x="365760" y="1965960"/>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Ingresos (combos × ticket)</a:t>
            </a:r>
            <a:endParaRPr lang="en-US" sz="1100" dirty="0"/>
          </a:p>
        </p:txBody>
      </p:sp>
      <p:sp>
        <p:nvSpPr>
          <p:cNvPr id="7" name="Text 5"/>
          <p:cNvSpPr/>
          <p:nvPr/>
        </p:nvSpPr>
        <p:spPr>
          <a:xfrm>
            <a:off x="365760" y="2258568"/>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Costos variables ($1.300-1.700/combo)</a:t>
            </a:r>
            <a:endParaRPr lang="en-US" sz="1100" dirty="0"/>
          </a:p>
        </p:txBody>
      </p:sp>
      <p:sp>
        <p:nvSpPr>
          <p:cNvPr id="8" name="Text 6"/>
          <p:cNvSpPr/>
          <p:nvPr/>
        </p:nvSpPr>
        <p:spPr>
          <a:xfrm>
            <a:off x="365760" y="2551176"/>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Costos fijos (arriendo + planilla + servicios)</a:t>
            </a:r>
            <a:endParaRPr lang="en-US" sz="1100" dirty="0"/>
          </a:p>
        </p:txBody>
      </p:sp>
      <p:sp>
        <p:nvSpPr>
          <p:cNvPr id="9" name="Text 7"/>
          <p:cNvSpPr/>
          <p:nvPr/>
        </p:nvSpPr>
        <p:spPr>
          <a:xfrm>
            <a:off x="365760" y="2843784"/>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Comisión tarjetas 2,8%</a:t>
            </a:r>
            <a:endParaRPr lang="en-US" sz="1100" dirty="0"/>
          </a:p>
        </p:txBody>
      </p:sp>
      <p:sp>
        <p:nvSpPr>
          <p:cNvPr id="10" name="Text 8"/>
          <p:cNvSpPr/>
          <p:nvPr/>
        </p:nvSpPr>
        <p:spPr>
          <a:xfrm>
            <a:off x="365760" y="3136392"/>
            <a:ext cx="5669280" cy="274320"/>
          </a:xfrm>
          <a:prstGeom prst="rect">
            <a:avLst/>
          </a:prstGeom>
          <a:noFill/>
          <a:ln/>
        </p:spPr>
        <p:txBody>
          <a:bodyPr wrap="square" rtlCol="0" anchor="ctr"/>
          <a:lstStyle/>
          <a:p>
            <a:pPr indent="0" marL="0">
              <a:buNone/>
            </a:pPr>
            <a:r>
              <a:rPr lang="en-US" sz="1100" b="1" dirty="0">
                <a:solidFill>
                  <a:srgbClr val="E55934"/>
                </a:solidFill>
                <a:latin typeface="Consolas" pitchFamily="34" charset="0"/>
                <a:ea typeface="Consolas" pitchFamily="34" charset="-122"/>
                <a:cs typeface="Consolas" pitchFamily="34" charset="-120"/>
              </a:rPr>
              <a:t>=  EBITDA</a:t>
            </a:r>
            <a:endParaRPr lang="en-US" sz="1100" dirty="0"/>
          </a:p>
        </p:txBody>
      </p:sp>
      <p:sp>
        <p:nvSpPr>
          <p:cNvPr id="11" name="Text 9"/>
          <p:cNvSpPr/>
          <p:nvPr/>
        </p:nvSpPr>
        <p:spPr>
          <a:xfrm>
            <a:off x="365760" y="3429000"/>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Depreciación SLN (vida útil ponderada 8 años)</a:t>
            </a:r>
            <a:endParaRPr lang="en-US" sz="1100" dirty="0"/>
          </a:p>
        </p:txBody>
      </p:sp>
      <p:sp>
        <p:nvSpPr>
          <p:cNvPr id="12" name="Text 10"/>
          <p:cNvSpPr/>
          <p:nvPr/>
        </p:nvSpPr>
        <p:spPr>
          <a:xfrm>
            <a:off x="365760" y="3721608"/>
            <a:ext cx="5669280" cy="274320"/>
          </a:xfrm>
          <a:prstGeom prst="rect">
            <a:avLst/>
          </a:prstGeom>
          <a:noFill/>
          <a:ln/>
        </p:spPr>
        <p:txBody>
          <a:bodyPr wrap="square" rtlCol="0" anchor="ctr"/>
          <a:lstStyle/>
          <a:p>
            <a:pPr indent="0" marL="0">
              <a:buNone/>
            </a:pPr>
            <a:r>
              <a:rPr lang="en-US" sz="1100" b="1" dirty="0">
                <a:solidFill>
                  <a:srgbClr val="E55934"/>
                </a:solidFill>
                <a:latin typeface="Consolas" pitchFamily="34" charset="0"/>
                <a:ea typeface="Consolas" pitchFamily="34" charset="-122"/>
                <a:cs typeface="Consolas" pitchFamily="34" charset="-120"/>
              </a:rPr>
              <a:t>=  EBIT (UAI)</a:t>
            </a:r>
            <a:endParaRPr lang="en-US" sz="1100" dirty="0"/>
          </a:p>
        </p:txBody>
      </p:sp>
      <p:sp>
        <p:nvSpPr>
          <p:cNvPr id="13" name="Text 11"/>
          <p:cNvSpPr/>
          <p:nvPr/>
        </p:nvSpPr>
        <p:spPr>
          <a:xfrm>
            <a:off x="365760" y="4014216"/>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Impuesto 25% (con crédito acumulado caso 1)</a:t>
            </a:r>
            <a:endParaRPr lang="en-US" sz="1100" dirty="0"/>
          </a:p>
        </p:txBody>
      </p:sp>
      <p:sp>
        <p:nvSpPr>
          <p:cNvPr id="14" name="Text 12"/>
          <p:cNvSpPr/>
          <p:nvPr/>
        </p:nvSpPr>
        <p:spPr>
          <a:xfrm>
            <a:off x="365760" y="4306824"/>
            <a:ext cx="5669280" cy="274320"/>
          </a:xfrm>
          <a:prstGeom prst="rect">
            <a:avLst/>
          </a:prstGeom>
          <a:noFill/>
          <a:ln/>
        </p:spPr>
        <p:txBody>
          <a:bodyPr wrap="square" rtlCol="0" anchor="ctr"/>
          <a:lstStyle/>
          <a:p>
            <a:pPr indent="0" marL="0">
              <a:buNone/>
            </a:pPr>
            <a:r>
              <a:rPr lang="en-US" sz="1100" b="1" dirty="0">
                <a:solidFill>
                  <a:srgbClr val="E55934"/>
                </a:solidFill>
                <a:latin typeface="Consolas" pitchFamily="34" charset="0"/>
                <a:ea typeface="Consolas" pitchFamily="34" charset="-122"/>
                <a:cs typeface="Consolas" pitchFamily="34" charset="-120"/>
              </a:rPr>
              <a:t>=  Utilidad neta</a:t>
            </a:r>
            <a:endParaRPr lang="en-US" sz="1100" dirty="0"/>
          </a:p>
        </p:txBody>
      </p:sp>
      <p:sp>
        <p:nvSpPr>
          <p:cNvPr id="15" name="Text 13"/>
          <p:cNvSpPr/>
          <p:nvPr/>
        </p:nvSpPr>
        <p:spPr>
          <a:xfrm>
            <a:off x="365760" y="4599432"/>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Reversión depreciación</a:t>
            </a:r>
            <a:endParaRPr lang="en-US" sz="1100" dirty="0"/>
          </a:p>
        </p:txBody>
      </p:sp>
      <p:sp>
        <p:nvSpPr>
          <p:cNvPr id="16" name="Text 14"/>
          <p:cNvSpPr/>
          <p:nvPr/>
        </p:nvSpPr>
        <p:spPr>
          <a:xfrm>
            <a:off x="365760" y="4892040"/>
            <a:ext cx="5669280" cy="274320"/>
          </a:xfrm>
          <a:prstGeom prst="rect">
            <a:avLst/>
          </a:prstGeom>
          <a:noFill/>
          <a:ln/>
        </p:spPr>
        <p:txBody>
          <a:bodyPr wrap="square" rtlCol="0" anchor="ctr"/>
          <a:lstStyle/>
          <a:p>
            <a:pPr indent="0" marL="0">
              <a:buNone/>
            </a:pPr>
            <a:r>
              <a:rPr lang="en-US" sz="1100" b="1" dirty="0">
                <a:solidFill>
                  <a:srgbClr val="E55934"/>
                </a:solidFill>
                <a:latin typeface="Consolas" pitchFamily="34" charset="0"/>
                <a:ea typeface="Consolas" pitchFamily="34" charset="-122"/>
                <a:cs typeface="Consolas" pitchFamily="34" charset="-120"/>
              </a:rPr>
              <a:t>=  Flujo operacional</a:t>
            </a:r>
            <a:endParaRPr lang="en-US" sz="1100" dirty="0"/>
          </a:p>
        </p:txBody>
      </p:sp>
      <p:sp>
        <p:nvSpPr>
          <p:cNvPr id="17" name="Text 15"/>
          <p:cNvSpPr/>
          <p:nvPr/>
        </p:nvSpPr>
        <p:spPr>
          <a:xfrm>
            <a:off x="365760" y="5184648"/>
            <a:ext cx="5669280" cy="274320"/>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  Recupero KT + Valor residual + Valor terminal (último año)</a:t>
            </a:r>
            <a:endParaRPr lang="en-US" sz="1100" dirty="0"/>
          </a:p>
        </p:txBody>
      </p:sp>
      <p:sp>
        <p:nvSpPr>
          <p:cNvPr id="18" name="Text 16"/>
          <p:cNvSpPr/>
          <p:nvPr/>
        </p:nvSpPr>
        <p:spPr>
          <a:xfrm>
            <a:off x="365760" y="5477256"/>
            <a:ext cx="5669280" cy="274320"/>
          </a:xfrm>
          <a:prstGeom prst="rect">
            <a:avLst/>
          </a:prstGeom>
          <a:noFill/>
          <a:ln/>
        </p:spPr>
        <p:txBody>
          <a:bodyPr wrap="square" rtlCol="0" anchor="ctr"/>
          <a:lstStyle/>
          <a:p>
            <a:pPr indent="0" marL="0">
              <a:buNone/>
            </a:pPr>
            <a:r>
              <a:rPr lang="en-US" sz="1100" b="1" dirty="0">
                <a:solidFill>
                  <a:srgbClr val="E55934"/>
                </a:solidFill>
                <a:latin typeface="Consolas" pitchFamily="34" charset="0"/>
                <a:ea typeface="Consolas" pitchFamily="34" charset="-122"/>
                <a:cs typeface="Consolas" pitchFamily="34" charset="-120"/>
              </a:rPr>
              <a:t>=  FLUJO NETO DE CAJA</a:t>
            </a:r>
            <a:endParaRPr lang="en-US" sz="1100" dirty="0"/>
          </a:p>
        </p:txBody>
      </p:sp>
      <p:sp>
        <p:nvSpPr>
          <p:cNvPr id="19" name="Text 17"/>
          <p:cNvSpPr/>
          <p:nvPr/>
        </p:nvSpPr>
        <p:spPr>
          <a:xfrm>
            <a:off x="6400800" y="1554480"/>
            <a:ext cx="539496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SUPUESTOS CRÍTICOS</a:t>
            </a:r>
            <a:endParaRPr lang="en-US" sz="1400" dirty="0"/>
          </a:p>
        </p:txBody>
      </p:sp>
      <p:sp>
        <p:nvSpPr>
          <p:cNvPr id="20" name="Text 18"/>
          <p:cNvSpPr/>
          <p:nvPr/>
        </p:nvSpPr>
        <p:spPr>
          <a:xfrm>
            <a:off x="6400800" y="201168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Tcc (CAPM retail food)</a:t>
            </a:r>
            <a:endParaRPr lang="en-US" sz="1100" dirty="0"/>
          </a:p>
        </p:txBody>
      </p:sp>
      <p:sp>
        <p:nvSpPr>
          <p:cNvPr id="21" name="Text 19"/>
          <p:cNvSpPr/>
          <p:nvPr/>
        </p:nvSpPr>
        <p:spPr>
          <a:xfrm>
            <a:off x="9601200" y="201168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14%</a:t>
            </a:r>
            <a:endParaRPr lang="en-US" sz="1100" dirty="0"/>
          </a:p>
        </p:txBody>
      </p:sp>
      <p:sp>
        <p:nvSpPr>
          <p:cNvPr id="22" name="Text 20"/>
          <p:cNvSpPr/>
          <p:nvPr/>
        </p:nvSpPr>
        <p:spPr>
          <a:xfrm>
            <a:off x="6400800" y="237744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β (sector retail food)</a:t>
            </a:r>
            <a:endParaRPr lang="en-US" sz="1100" dirty="0"/>
          </a:p>
        </p:txBody>
      </p:sp>
      <p:sp>
        <p:nvSpPr>
          <p:cNvPr id="23" name="Text 21"/>
          <p:cNvSpPr/>
          <p:nvPr/>
        </p:nvSpPr>
        <p:spPr>
          <a:xfrm>
            <a:off x="9601200" y="237744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1.30</a:t>
            </a:r>
            <a:endParaRPr lang="en-US" sz="1100" dirty="0"/>
          </a:p>
        </p:txBody>
      </p:sp>
      <p:sp>
        <p:nvSpPr>
          <p:cNvPr id="24" name="Text 22"/>
          <p:cNvSpPr/>
          <p:nvPr/>
        </p:nvSpPr>
        <p:spPr>
          <a:xfrm>
            <a:off x="6400800" y="274320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Crecimiento demanda</a:t>
            </a:r>
            <a:endParaRPr lang="en-US" sz="1100" dirty="0"/>
          </a:p>
        </p:txBody>
      </p:sp>
      <p:sp>
        <p:nvSpPr>
          <p:cNvPr id="25" name="Text 23"/>
          <p:cNvSpPr/>
          <p:nvPr/>
        </p:nvSpPr>
        <p:spPr>
          <a:xfrm>
            <a:off x="9601200" y="274320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Por zona INE + 1,5% sectorial</a:t>
            </a:r>
            <a:endParaRPr lang="en-US" sz="1100" dirty="0"/>
          </a:p>
        </p:txBody>
      </p:sp>
      <p:sp>
        <p:nvSpPr>
          <p:cNvPr id="26" name="Text 24"/>
          <p:cNvSpPr/>
          <p:nvPr/>
        </p:nvSpPr>
        <p:spPr>
          <a:xfrm>
            <a:off x="6400800" y="310896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Múltiplo EBITDA terminal</a:t>
            </a:r>
            <a:endParaRPr lang="en-US" sz="1100" dirty="0"/>
          </a:p>
        </p:txBody>
      </p:sp>
      <p:sp>
        <p:nvSpPr>
          <p:cNvPr id="27" name="Text 25"/>
          <p:cNvSpPr/>
          <p:nvPr/>
        </p:nvSpPr>
        <p:spPr>
          <a:xfrm>
            <a:off x="9601200" y="310896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3.5x</a:t>
            </a:r>
            <a:endParaRPr lang="en-US" sz="1100" dirty="0"/>
          </a:p>
        </p:txBody>
      </p:sp>
      <p:sp>
        <p:nvSpPr>
          <p:cNvPr id="28" name="Text 26"/>
          <p:cNvSpPr/>
          <p:nvPr/>
        </p:nvSpPr>
        <p:spPr>
          <a:xfrm>
            <a:off x="6400800" y="347472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Comisión tarjetas</a:t>
            </a:r>
            <a:endParaRPr lang="en-US" sz="1100" dirty="0"/>
          </a:p>
        </p:txBody>
      </p:sp>
      <p:sp>
        <p:nvSpPr>
          <p:cNvPr id="29" name="Text 27"/>
          <p:cNvSpPr/>
          <p:nvPr/>
        </p:nvSpPr>
        <p:spPr>
          <a:xfrm>
            <a:off x="9601200" y="347472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6400800" y="384048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Días operación</a:t>
            </a:r>
            <a:endParaRPr lang="en-US" sz="1100" dirty="0"/>
          </a:p>
        </p:txBody>
      </p:sp>
      <p:sp>
        <p:nvSpPr>
          <p:cNvPr id="31" name="Text 29"/>
          <p:cNvSpPr/>
          <p:nvPr/>
        </p:nvSpPr>
        <p:spPr>
          <a:xfrm>
            <a:off x="9601200" y="384048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312/año (6 días/sem)</a:t>
            </a:r>
            <a:endParaRPr lang="en-US" sz="1100" dirty="0"/>
          </a:p>
        </p:txBody>
      </p:sp>
      <p:sp>
        <p:nvSpPr>
          <p:cNvPr id="32" name="Text 30"/>
          <p:cNvSpPr/>
          <p:nvPr/>
        </p:nvSpPr>
        <p:spPr>
          <a:xfrm>
            <a:off x="6400800" y="420624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Horizonte evaluación</a:t>
            </a:r>
            <a:endParaRPr lang="en-US" sz="1100" dirty="0"/>
          </a:p>
        </p:txBody>
      </p:sp>
      <p:sp>
        <p:nvSpPr>
          <p:cNvPr id="33" name="Text 31"/>
          <p:cNvSpPr/>
          <p:nvPr/>
        </p:nvSpPr>
        <p:spPr>
          <a:xfrm>
            <a:off x="9601200" y="420624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5 años + valor terminal</a:t>
            </a:r>
            <a:endParaRPr lang="en-US" sz="1100" dirty="0"/>
          </a:p>
        </p:txBody>
      </p:sp>
      <p:sp>
        <p:nvSpPr>
          <p:cNvPr id="34" name="Text 32"/>
          <p:cNvSpPr/>
          <p:nvPr/>
        </p:nvSpPr>
        <p:spPr>
          <a:xfrm>
            <a:off x="6400800" y="457200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CAPEX activos</a:t>
            </a:r>
            <a:endParaRPr lang="en-US" sz="1100" dirty="0"/>
          </a:p>
        </p:txBody>
      </p:sp>
      <p:sp>
        <p:nvSpPr>
          <p:cNvPr id="35" name="Text 33"/>
          <p:cNvSpPr/>
          <p:nvPr/>
        </p:nvSpPr>
        <p:spPr>
          <a:xfrm>
            <a:off x="9601200" y="457200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$20,5M</a:t>
            </a:r>
            <a:endParaRPr lang="en-US" sz="1100" dirty="0"/>
          </a:p>
        </p:txBody>
      </p:sp>
      <p:sp>
        <p:nvSpPr>
          <p:cNvPr id="36" name="Text 34"/>
          <p:cNvSpPr/>
          <p:nvPr/>
        </p:nvSpPr>
        <p:spPr>
          <a:xfrm>
            <a:off x="6400800" y="493776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Capital trabajo</a:t>
            </a:r>
            <a:endParaRPr lang="en-US" sz="1100" dirty="0"/>
          </a:p>
        </p:txBody>
      </p:sp>
      <p:sp>
        <p:nvSpPr>
          <p:cNvPr id="37" name="Text 35"/>
          <p:cNvSpPr/>
          <p:nvPr/>
        </p:nvSpPr>
        <p:spPr>
          <a:xfrm>
            <a:off x="9601200" y="493776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2,5 meses egresos</a:t>
            </a:r>
            <a:endParaRPr lang="en-US" sz="1100" dirty="0"/>
          </a:p>
        </p:txBody>
      </p:sp>
      <p:sp>
        <p:nvSpPr>
          <p:cNvPr id="38" name="Text 36"/>
          <p:cNvSpPr/>
          <p:nvPr/>
        </p:nvSpPr>
        <p:spPr>
          <a:xfrm>
            <a:off x="6400800" y="5303520"/>
            <a:ext cx="320040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Régimen tributario</a:t>
            </a:r>
            <a:endParaRPr lang="en-US" sz="1100" dirty="0"/>
          </a:p>
        </p:txBody>
      </p:sp>
      <p:sp>
        <p:nvSpPr>
          <p:cNvPr id="39" name="Text 37"/>
          <p:cNvSpPr/>
          <p:nvPr/>
        </p:nvSpPr>
        <p:spPr>
          <a:xfrm>
            <a:off x="9601200" y="5303520"/>
            <a:ext cx="2194560" cy="274320"/>
          </a:xfrm>
          <a:prstGeom prst="rect">
            <a:avLst/>
          </a:prstGeom>
          <a:noFill/>
          <a:ln/>
        </p:spPr>
        <p:txBody>
          <a:bodyPr wrap="square"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Pro PYME 14 D N° 3</a:t>
            </a:r>
            <a:endParaRPr lang="en-US" sz="1100" dirty="0"/>
          </a:p>
        </p:txBody>
      </p:sp>
      <p:sp>
        <p:nvSpPr>
          <p:cNvPr id="40" name="Text 38"/>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41" name="Text 39"/>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RESULTADOS — RANKING POR VAN</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El Golf y Providencia son los únicos proyectos claramente recomendables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11430000" cy="914400"/>
        </p:xfrm>
        <a:graphic>
          <a:graphicData uri="http://schemas.openxmlformats.org/drawingml/2006/table">
            <a:tbl>
              <a:tblPr/>
              <a:tblGrid>
                <a:gridCol w="548640"/>
                <a:gridCol w="3291840"/>
                <a:gridCol w="1463040"/>
                <a:gridCol w="1097280"/>
                <a:gridCol w="1097280"/>
                <a:gridCol w="1280160"/>
                <a:gridCol w="26517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Ubicación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Payback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Combos y4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Veredicto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El Golf · 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F59E0B"/>
                          </a:solidFill>
                          <a:latin typeface="Calibri" pitchFamily="34" charset="0"/>
                          <a:ea typeface="Calibri" pitchFamily="34" charset="-122"/>
                          <a:cs typeface="Calibri" pitchFamily="34" charset="-120"/>
                        </a:rPr>
                        <a:t>$107M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3.2y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Aceptable con riesgo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Providencia · Pedro de Valdivia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F59E0B"/>
                          </a:solidFill>
                          <a:latin typeface="Calibri" pitchFamily="34" charset="0"/>
                          <a:ea typeface="Calibri" pitchFamily="34" charset="-122"/>
                          <a:cs typeface="Calibri" pitchFamily="34" charset="-120"/>
                        </a:rPr>
                        <a:t>$46M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4.1y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Aceptable con riesgo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Vitacura · Alonso de Córdova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F59E0B"/>
                          </a:solidFill>
                          <a:latin typeface="Calibri" pitchFamily="34" charset="0"/>
                          <a:ea typeface="Calibri" pitchFamily="34" charset="-122"/>
                          <a:cs typeface="Calibri" pitchFamily="34" charset="-120"/>
                        </a:rPr>
                        <a:t>$41M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4.1y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119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Aceptable con riesgo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Ñuñoa · Plaza Ñuñoa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F59E0B"/>
                          </a:solidFill>
                          <a:latin typeface="Calibri" pitchFamily="34" charset="0"/>
                          <a:ea typeface="Calibri" pitchFamily="34" charset="-122"/>
                          <a:cs typeface="Calibri" pitchFamily="34" charset="-120"/>
                        </a:rPr>
                        <a:t>$28M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4.2y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139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Aceptable con riesgo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Apoquindo / El Bosque · Las Condes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F59E0B"/>
                          </a:solidFill>
                          <a:latin typeface="Calibri" pitchFamily="34" charset="0"/>
                          <a:ea typeface="Calibri" pitchFamily="34" charset="-122"/>
                          <a:cs typeface="Calibri" pitchFamily="34" charset="-120"/>
                        </a:rPr>
                        <a:t>$25M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4.2y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Aceptable con riesgo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Estación Central · USACH</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EF4444"/>
                          </a:solidFill>
                          <a:latin typeface="Calibri" pitchFamily="34" charset="0"/>
                          <a:ea typeface="Calibri" pitchFamily="34" charset="-122"/>
                          <a:cs typeface="Calibri" pitchFamily="34" charset="-120"/>
                        </a:rPr>
                        <a:t>−$24M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4.9y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147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EF4444"/>
                          </a:solidFill>
                          <a:latin typeface="Calibri" pitchFamily="34" charset="0"/>
                          <a:ea typeface="Calibri" pitchFamily="34" charset="-122"/>
                          <a:cs typeface="Calibri" pitchFamily="34" charset="-120"/>
                        </a:rPr>
                        <a:t>No conviene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Santiago Centro · Ahumada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EF4444"/>
                          </a:solidFill>
                          <a:latin typeface="Calibri" pitchFamily="34" charset="0"/>
                          <a:ea typeface="Calibri" pitchFamily="34" charset="-122"/>
                          <a:cs typeface="Calibri" pitchFamily="34" charset="-120"/>
                        </a:rPr>
                        <a:t>−$58M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&gt; 5y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b="1" dirty="0">
                          <a:solidFill>
                            <a:srgbClr val="EF4444"/>
                          </a:solidFill>
                          <a:latin typeface="Calibri" pitchFamily="34" charset="0"/>
                          <a:ea typeface="Calibri" pitchFamily="34" charset="-122"/>
                          <a:cs typeface="Calibri" pitchFamily="34" charset="-120"/>
                        </a:rPr>
                        <a:t>No conviene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365760" y="5486400"/>
            <a:ext cx="11430000" cy="822960"/>
          </a:xfrm>
          <a:prstGeom prst="rect">
            <a:avLst/>
          </a:prstGeom>
          <a:noFill/>
          <a:ln/>
        </p:spPr>
        <p:txBody>
          <a:bodyPr wrap="square" rtlCol="0" anchor="ctr"/>
          <a:lstStyle/>
          <a:p>
            <a:pPr indent="0" marL="0">
              <a:buNone/>
            </a:pPr>
            <a:r>
              <a:rPr lang="en-US" sz="1200" b="1" i="1" dirty="0">
                <a:solidFill>
                  <a:srgbClr val="E55934"/>
                </a:solidFill>
                <a:latin typeface="Calibri" pitchFamily="34" charset="0"/>
                <a:ea typeface="Calibri" pitchFamily="34" charset="-122"/>
                <a:cs typeface="Calibri" pitchFamily="34" charset="-120"/>
              </a:rPr>
              <a:t>Insight clave: </a:t>
            </a:r>
            <a:pPr indent="0" marL="0">
              <a:buNone/>
            </a:pPr>
            <a:r>
              <a:rPr lang="en-US" sz="1200" i="1" dirty="0">
                <a:solidFill>
                  <a:srgbClr val="4B5563"/>
                </a:solidFill>
                <a:latin typeface="Calibri" pitchFamily="34" charset="0"/>
                <a:ea typeface="Calibri" pitchFamily="34" charset="-122"/>
                <a:cs typeface="Calibri" pitchFamily="34" charset="-120"/>
              </a:rPr>
              <a:t>Santiago Centro tiene el mayor flujo peatonal de la RM (95k pax/día) PERO su densidad de competencia (145 cafés/km²) reduce la captura efectiva en 41% — pasando de "ganador esperado" a "no conviene". El Golf gana porque combina ticket alto ($4.500) con baja competencia (65 cafés/km²) y perfil oficina con peaks claros.</a:t>
            </a:r>
            <a:endParaRPr lang="en-US" sz="1200" dirty="0"/>
          </a:p>
        </p:txBody>
      </p:sp>
      <p:sp>
        <p:nvSpPr>
          <p:cNvPr id="7" name="Text 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8" name="Text 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UBICACIÓN RECOMENDADA</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El Golf · Las Condes</a:t>
            </a:r>
            <a:endParaRPr lang="en-US" sz="2800" dirty="0"/>
          </a:p>
        </p:txBody>
      </p:sp>
      <p:sp>
        <p:nvSpPr>
          <p:cNvPr id="5" name="Text 3"/>
          <p:cNvSpPr/>
          <p:nvPr/>
        </p:nvSpPr>
        <p:spPr>
          <a:xfrm>
            <a:off x="365760" y="1143000"/>
            <a:ext cx="11430000" cy="365760"/>
          </a:xfrm>
          <a:prstGeom prst="rect">
            <a:avLst/>
          </a:prstGeom>
          <a:noFill/>
          <a:ln/>
        </p:spPr>
        <p:txBody>
          <a:bodyPr wrap="square" rtlCol="0" anchor="ctr"/>
          <a:lstStyle/>
          <a:p>
            <a:pPr indent="0" marL="0">
              <a:buNone/>
            </a:pPr>
            <a:r>
              <a:rPr lang="en-US" sz="1400" i="1" dirty="0">
                <a:solidFill>
                  <a:srgbClr val="4B5563"/>
                </a:solidFill>
                <a:latin typeface="Calibri" pitchFamily="34" charset="0"/>
                <a:ea typeface="Calibri" pitchFamily="34" charset="-122"/>
                <a:cs typeface="Calibri" pitchFamily="34" charset="-120"/>
              </a:rPr>
              <a:t>Av. Apoquindo 5300 - 5800 · Comuna Las Condes</a:t>
            </a:r>
            <a:endParaRPr lang="en-US" sz="1400" dirty="0"/>
          </a:p>
        </p:txBody>
      </p:sp>
      <p:sp>
        <p:nvSpPr>
          <p:cNvPr id="6" name="Shape 4"/>
          <p:cNvSpPr/>
          <p:nvPr/>
        </p:nvSpPr>
        <p:spPr>
          <a:xfrm>
            <a:off x="365760" y="1691640"/>
            <a:ext cx="3657600" cy="1097280"/>
          </a:xfrm>
          <a:prstGeom prst="rect">
            <a:avLst/>
          </a:prstGeom>
          <a:solidFill>
            <a:srgbClr val="FFFFFF"/>
          </a:solidFill>
          <a:ln w="12700">
            <a:solidFill>
              <a:srgbClr val="E5E7EB"/>
            </a:solidFill>
            <a:prstDash val="solid"/>
          </a:ln>
        </p:spPr>
      </p:sp>
      <p:sp>
        <p:nvSpPr>
          <p:cNvPr id="7" name="Text 5"/>
          <p:cNvSpPr/>
          <p:nvPr/>
        </p:nvSpPr>
        <p:spPr>
          <a:xfrm>
            <a:off x="548640" y="178308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VAN base</a:t>
            </a:r>
            <a:endParaRPr lang="en-US" sz="1100" dirty="0"/>
          </a:p>
        </p:txBody>
      </p:sp>
      <p:sp>
        <p:nvSpPr>
          <p:cNvPr id="8" name="Text 6"/>
          <p:cNvSpPr/>
          <p:nvPr/>
        </p:nvSpPr>
        <p:spPr>
          <a:xfrm>
            <a:off x="548640" y="2057400"/>
            <a:ext cx="3474720" cy="640080"/>
          </a:xfrm>
          <a:prstGeom prst="rect">
            <a:avLst/>
          </a:prstGeom>
          <a:noFill/>
          <a:ln/>
        </p:spPr>
        <p:txBody>
          <a:bodyPr wrap="square" rtlCol="0" anchor="ctr"/>
          <a:lstStyle/>
          <a:p>
            <a:pPr indent="0" marL="0">
              <a:buNone/>
            </a:pPr>
            <a:r>
              <a:rPr lang="en-US" sz="2800" b="1" dirty="0">
                <a:solidFill>
                  <a:srgbClr val="10B981"/>
                </a:solidFill>
                <a:latin typeface="Calibri" pitchFamily="34" charset="0"/>
                <a:ea typeface="Calibri" pitchFamily="34" charset="-122"/>
                <a:cs typeface="Calibri" pitchFamily="34" charset="-120"/>
              </a:rPr>
              <a:t>$107M</a:t>
            </a:r>
            <a:endParaRPr lang="en-US" sz="2800" dirty="0"/>
          </a:p>
        </p:txBody>
      </p:sp>
      <p:sp>
        <p:nvSpPr>
          <p:cNvPr id="9" name="Shape 7"/>
          <p:cNvSpPr/>
          <p:nvPr/>
        </p:nvSpPr>
        <p:spPr>
          <a:xfrm>
            <a:off x="4206240" y="1691640"/>
            <a:ext cx="3657600" cy="1097280"/>
          </a:xfrm>
          <a:prstGeom prst="rect">
            <a:avLst/>
          </a:prstGeom>
          <a:solidFill>
            <a:srgbClr val="FFFFFF"/>
          </a:solidFill>
          <a:ln w="12700">
            <a:solidFill>
              <a:srgbClr val="E5E7EB"/>
            </a:solidFill>
            <a:prstDash val="solid"/>
          </a:ln>
        </p:spPr>
      </p:sp>
      <p:sp>
        <p:nvSpPr>
          <p:cNvPr id="10" name="Text 8"/>
          <p:cNvSpPr/>
          <p:nvPr/>
        </p:nvSpPr>
        <p:spPr>
          <a:xfrm>
            <a:off x="4389120" y="178308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TIR</a:t>
            </a:r>
            <a:endParaRPr lang="en-US" sz="1100" dirty="0"/>
          </a:p>
        </p:txBody>
      </p:sp>
      <p:sp>
        <p:nvSpPr>
          <p:cNvPr id="11" name="Text 9"/>
          <p:cNvSpPr/>
          <p:nvPr/>
        </p:nvSpPr>
        <p:spPr>
          <a:xfrm>
            <a:off x="4389120" y="2057400"/>
            <a:ext cx="3474720" cy="640080"/>
          </a:xfrm>
          <a:prstGeom prst="rect">
            <a:avLst/>
          </a:prstGeom>
          <a:noFill/>
          <a:ln/>
        </p:spPr>
        <p:txBody>
          <a:bodyPr wrap="square" rtlCol="0" anchor="ctr"/>
          <a:lstStyle/>
          <a:p>
            <a:pPr indent="0" marL="0">
              <a:buNone/>
            </a:pPr>
            <a:r>
              <a:rPr lang="en-US" sz="2800" b="1" dirty="0">
                <a:solidFill>
                  <a:srgbClr val="E55934"/>
                </a:solidFill>
                <a:latin typeface="Calibri" pitchFamily="34" charset="0"/>
                <a:ea typeface="Calibri" pitchFamily="34" charset="-122"/>
                <a:cs typeface="Calibri" pitchFamily="34" charset="-120"/>
              </a:rPr>
              <a:t>49%</a:t>
            </a:r>
            <a:endParaRPr lang="en-US" sz="2800" dirty="0"/>
          </a:p>
        </p:txBody>
      </p:sp>
      <p:sp>
        <p:nvSpPr>
          <p:cNvPr id="12" name="Shape 10"/>
          <p:cNvSpPr/>
          <p:nvPr/>
        </p:nvSpPr>
        <p:spPr>
          <a:xfrm>
            <a:off x="8046720" y="1691640"/>
            <a:ext cx="3657600" cy="1097280"/>
          </a:xfrm>
          <a:prstGeom prst="rect">
            <a:avLst/>
          </a:prstGeom>
          <a:solidFill>
            <a:srgbClr val="FFFFFF"/>
          </a:solidFill>
          <a:ln w="12700">
            <a:solidFill>
              <a:srgbClr val="E5E7EB"/>
            </a:solidFill>
            <a:prstDash val="solid"/>
          </a:ln>
        </p:spPr>
      </p:sp>
      <p:sp>
        <p:nvSpPr>
          <p:cNvPr id="13" name="Text 11"/>
          <p:cNvSpPr/>
          <p:nvPr/>
        </p:nvSpPr>
        <p:spPr>
          <a:xfrm>
            <a:off x="8229600" y="178308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Payback</a:t>
            </a:r>
            <a:endParaRPr lang="en-US" sz="1100" dirty="0"/>
          </a:p>
        </p:txBody>
      </p:sp>
      <p:sp>
        <p:nvSpPr>
          <p:cNvPr id="14" name="Text 12"/>
          <p:cNvSpPr/>
          <p:nvPr/>
        </p:nvSpPr>
        <p:spPr>
          <a:xfrm>
            <a:off x="8229600" y="2057400"/>
            <a:ext cx="3474720" cy="640080"/>
          </a:xfrm>
          <a:prstGeom prst="rect">
            <a:avLst/>
          </a:prstGeom>
          <a:noFill/>
          <a:ln/>
        </p:spPr>
        <p:txBody>
          <a:bodyPr wrap="square" rtlCol="0" anchor="ctr"/>
          <a:lstStyle/>
          <a:p>
            <a:pPr indent="0" marL="0">
              <a:buNone/>
            </a:pPr>
            <a:r>
              <a:rPr lang="en-US" sz="2800" b="1" dirty="0">
                <a:solidFill>
                  <a:srgbClr val="F4A261"/>
                </a:solidFill>
                <a:latin typeface="Calibri" pitchFamily="34" charset="0"/>
                <a:ea typeface="Calibri" pitchFamily="34" charset="-122"/>
                <a:cs typeface="Calibri" pitchFamily="34" charset="-120"/>
              </a:rPr>
              <a:t>3.2y</a:t>
            </a:r>
            <a:endParaRPr lang="en-US" sz="2800" dirty="0"/>
          </a:p>
        </p:txBody>
      </p:sp>
      <p:sp>
        <p:nvSpPr>
          <p:cNvPr id="15" name="Shape 13"/>
          <p:cNvSpPr/>
          <p:nvPr/>
        </p:nvSpPr>
        <p:spPr>
          <a:xfrm>
            <a:off x="365760" y="2971800"/>
            <a:ext cx="3657600" cy="1097280"/>
          </a:xfrm>
          <a:prstGeom prst="rect">
            <a:avLst/>
          </a:prstGeom>
          <a:solidFill>
            <a:srgbClr val="FFFFFF"/>
          </a:solidFill>
          <a:ln w="12700">
            <a:solidFill>
              <a:srgbClr val="E5E7EB"/>
            </a:solidFill>
            <a:prstDash val="solid"/>
          </a:ln>
        </p:spPr>
      </p:sp>
      <p:sp>
        <p:nvSpPr>
          <p:cNvPr id="16" name="Text 14"/>
          <p:cNvSpPr/>
          <p:nvPr/>
        </p:nvSpPr>
        <p:spPr>
          <a:xfrm>
            <a:off x="548640" y="306324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EBITDA año 4</a:t>
            </a:r>
            <a:endParaRPr lang="en-US" sz="1100" dirty="0"/>
          </a:p>
        </p:txBody>
      </p:sp>
      <p:sp>
        <p:nvSpPr>
          <p:cNvPr id="17" name="Text 15"/>
          <p:cNvSpPr/>
          <p:nvPr/>
        </p:nvSpPr>
        <p:spPr>
          <a:xfrm>
            <a:off x="548640" y="3337560"/>
            <a:ext cx="347472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$48M</a:t>
            </a:r>
            <a:endParaRPr lang="en-US" sz="2800" dirty="0"/>
          </a:p>
        </p:txBody>
      </p:sp>
      <p:sp>
        <p:nvSpPr>
          <p:cNvPr id="18" name="Shape 16"/>
          <p:cNvSpPr/>
          <p:nvPr/>
        </p:nvSpPr>
        <p:spPr>
          <a:xfrm>
            <a:off x="4206240" y="2971800"/>
            <a:ext cx="3657600" cy="1097280"/>
          </a:xfrm>
          <a:prstGeom prst="rect">
            <a:avLst/>
          </a:prstGeom>
          <a:solidFill>
            <a:srgbClr val="FFFFFF"/>
          </a:solidFill>
          <a:ln w="12700">
            <a:solidFill>
              <a:srgbClr val="E5E7EB"/>
            </a:solidFill>
            <a:prstDash val="solid"/>
          </a:ln>
        </p:spPr>
      </p:sp>
      <p:sp>
        <p:nvSpPr>
          <p:cNvPr id="19" name="Text 17"/>
          <p:cNvSpPr/>
          <p:nvPr/>
        </p:nvSpPr>
        <p:spPr>
          <a:xfrm>
            <a:off x="4389120" y="306324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Inversión total</a:t>
            </a:r>
            <a:endParaRPr lang="en-US" sz="1100" dirty="0"/>
          </a:p>
        </p:txBody>
      </p:sp>
      <p:sp>
        <p:nvSpPr>
          <p:cNvPr id="20" name="Text 18"/>
          <p:cNvSpPr/>
          <p:nvPr/>
        </p:nvSpPr>
        <p:spPr>
          <a:xfrm>
            <a:off x="4389120" y="3337560"/>
            <a:ext cx="3474720"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$49.0M</a:t>
            </a:r>
            <a:endParaRPr lang="en-US" sz="2800" dirty="0"/>
          </a:p>
        </p:txBody>
      </p:sp>
      <p:sp>
        <p:nvSpPr>
          <p:cNvPr id="21" name="Shape 19"/>
          <p:cNvSpPr/>
          <p:nvPr/>
        </p:nvSpPr>
        <p:spPr>
          <a:xfrm>
            <a:off x="8046720" y="2971800"/>
            <a:ext cx="3657600" cy="1097280"/>
          </a:xfrm>
          <a:prstGeom prst="rect">
            <a:avLst/>
          </a:prstGeom>
          <a:solidFill>
            <a:srgbClr val="FFFFFF"/>
          </a:solidFill>
          <a:ln w="12700">
            <a:solidFill>
              <a:srgbClr val="E5E7EB"/>
            </a:solidFill>
            <a:prstDash val="solid"/>
          </a:ln>
        </p:spPr>
      </p:sp>
      <p:sp>
        <p:nvSpPr>
          <p:cNvPr id="22" name="Text 20"/>
          <p:cNvSpPr/>
          <p:nvPr/>
        </p:nvSpPr>
        <p:spPr>
          <a:xfrm>
            <a:off x="8229600" y="3063240"/>
            <a:ext cx="3474720" cy="274320"/>
          </a:xfrm>
          <a:prstGeom prst="rect">
            <a:avLst/>
          </a:prstGeom>
          <a:noFill/>
          <a:ln/>
        </p:spPr>
        <p:txBody>
          <a:bodyPr wrap="square"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Score viabilidad</a:t>
            </a:r>
            <a:endParaRPr lang="en-US" sz="1100" dirty="0"/>
          </a:p>
        </p:txBody>
      </p:sp>
      <p:sp>
        <p:nvSpPr>
          <p:cNvPr id="23" name="Text 21"/>
          <p:cNvSpPr/>
          <p:nvPr/>
        </p:nvSpPr>
        <p:spPr>
          <a:xfrm>
            <a:off x="8229600" y="3337560"/>
            <a:ext cx="3474720" cy="640080"/>
          </a:xfrm>
          <a:prstGeom prst="rect">
            <a:avLst/>
          </a:prstGeom>
          <a:noFill/>
          <a:ln/>
        </p:spPr>
        <p:txBody>
          <a:bodyPr wrap="square" rtlCol="0" anchor="ctr"/>
          <a:lstStyle/>
          <a:p>
            <a:pPr indent="0" marL="0">
              <a:buNone/>
            </a:pPr>
            <a:r>
              <a:rPr lang="en-US" sz="2800" b="1" dirty="0">
                <a:solidFill>
                  <a:srgbClr val="E55934"/>
                </a:solidFill>
                <a:latin typeface="Calibri" pitchFamily="34" charset="0"/>
                <a:ea typeface="Calibri" pitchFamily="34" charset="-122"/>
                <a:cs typeface="Calibri" pitchFamily="34" charset="-120"/>
              </a:rPr>
              <a:t>65/100</a:t>
            </a:r>
            <a:endParaRPr lang="en-US" sz="2800" dirty="0"/>
          </a:p>
        </p:txBody>
      </p:sp>
      <p:sp>
        <p:nvSpPr>
          <p:cNvPr id="24" name="Text 22"/>
          <p:cNvSpPr/>
          <p:nvPr/>
        </p:nvSpPr>
        <p:spPr>
          <a:xfrm>
            <a:off x="365760" y="4297680"/>
            <a:ext cx="1143000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¿Por qué El Golf?</a:t>
            </a:r>
            <a:endParaRPr lang="en-US" sz="1400" dirty="0"/>
          </a:p>
        </p:txBody>
      </p:sp>
      <p:sp>
        <p:nvSpPr>
          <p:cNvPr id="25" name="Text 23"/>
          <p:cNvSpPr/>
          <p:nvPr/>
        </p:nvSpPr>
        <p:spPr>
          <a:xfrm>
            <a:off x="365760" y="4663440"/>
            <a:ext cx="11430000" cy="1554480"/>
          </a:xfrm>
          <a:prstGeom prst="rect">
            <a:avLst/>
          </a:prstGeom>
          <a:noFill/>
          <a:ln/>
        </p:spPr>
        <p:txBody>
          <a:bodyPr wrap="square" rtlCol="0" anchor="ctr"/>
          <a:lstStyle/>
          <a:p>
            <a:pPr indent="0" marL="0">
              <a:buNone/>
            </a:pPr>
            <a:r>
              <a:rPr lang="en-US" sz="1200" b="1" dirty="0">
                <a:solidFill>
                  <a:srgbClr val="E55934"/>
                </a:solidFill>
                <a:latin typeface="Calibri" pitchFamily="34" charset="0"/>
                <a:ea typeface="Calibri" pitchFamily="34" charset="-122"/>
                <a:cs typeface="Calibri" pitchFamily="34" charset="-120"/>
              </a:rPr>
              <a:t>• Ticket alto sostenible: </a:t>
            </a:r>
            <a:pPr indent="0" marL="0">
              <a:buNone/>
            </a:pPr>
            <a:r>
              <a:rPr lang="en-US" sz="1200" dirty="0">
                <a:solidFill>
                  <a:srgbClr val="4B5563"/>
                </a:solidFill>
                <a:latin typeface="Calibri" pitchFamily="34" charset="0"/>
                <a:ea typeface="Calibri" pitchFamily="34" charset="-122"/>
                <a:cs typeface="Calibri" pitchFamily="34" charset="-120"/>
              </a:rPr>
              <a:t>$4.500 (oficinas torre AAA, ejecutivos)
</a:t>
            </a:r>
            <a:pPr indent="0" marL="0">
              <a:buNone/>
            </a:pPr>
            <a:r>
              <a:rPr lang="en-US" sz="1200" b="1" dirty="0">
                <a:solidFill>
                  <a:srgbClr val="E55934"/>
                </a:solidFill>
                <a:latin typeface="Calibri" pitchFamily="34" charset="0"/>
                <a:ea typeface="Calibri" pitchFamily="34" charset="-122"/>
                <a:cs typeface="Calibri" pitchFamily="34" charset="-120"/>
              </a:rPr>
              <a:t>• Volumen estable: </a:t>
            </a:r>
            <a:pPr indent="0" marL="0">
              <a:buNone/>
            </a:pPr>
            <a:r>
              <a:rPr lang="en-US" sz="1200" dirty="0">
                <a:solidFill>
                  <a:srgbClr val="4B5563"/>
                </a:solidFill>
                <a:latin typeface="Calibri" pitchFamily="34" charset="0"/>
                <a:ea typeface="Calibri" pitchFamily="34" charset="-122"/>
                <a:cs typeface="Calibri" pitchFamily="34" charset="-120"/>
              </a:rPr>
              <a:t>154 combos/día en madurez (28k peatones × 0,55% captura, capeado)
</a:t>
            </a:r>
            <a:pPr indent="0" marL="0">
              <a:buNone/>
            </a:pPr>
            <a:r>
              <a:rPr lang="en-US" sz="1200" b="1" dirty="0">
                <a:solidFill>
                  <a:srgbClr val="E55934"/>
                </a:solidFill>
                <a:latin typeface="Calibri" pitchFamily="34" charset="0"/>
                <a:ea typeface="Calibri" pitchFamily="34" charset="-122"/>
                <a:cs typeface="Calibri" pitchFamily="34" charset="-120"/>
              </a:rPr>
              <a:t>• Competencia moderada: </a:t>
            </a:r>
            <a:pPr indent="0" marL="0">
              <a:buNone/>
            </a:pPr>
            <a:r>
              <a:rPr lang="en-US" sz="1200" dirty="0">
                <a:solidFill>
                  <a:srgbClr val="4B5563"/>
                </a:solidFill>
                <a:latin typeface="Calibri" pitchFamily="34" charset="0"/>
                <a:ea typeface="Calibri" pitchFamily="34" charset="-122"/>
                <a:cs typeface="Calibri" pitchFamily="34" charset="-120"/>
              </a:rPr>
              <a:t>65 cafés/km² (penalización solo −12%, manejable)
</a:t>
            </a:r>
            <a:pPr indent="0" marL="0">
              <a:buNone/>
            </a:pPr>
            <a:r>
              <a:rPr lang="en-US" sz="1200" b="1" dirty="0">
                <a:solidFill>
                  <a:srgbClr val="E55934"/>
                </a:solidFill>
                <a:latin typeface="Calibri" pitchFamily="34" charset="0"/>
                <a:ea typeface="Calibri" pitchFamily="34" charset="-122"/>
                <a:cs typeface="Calibri" pitchFamily="34" charset="-120"/>
              </a:rPr>
              <a:t>• Resiliencia financiera: </a:t>
            </a:r>
            <a:pPr indent="0" marL="0">
              <a:buNone/>
            </a:pPr>
            <a:r>
              <a:rPr lang="en-US" sz="1200" dirty="0">
                <a:solidFill>
                  <a:srgbClr val="4B5563"/>
                </a:solidFill>
                <a:latin typeface="Calibri" pitchFamily="34" charset="0"/>
                <a:ea typeface="Calibri" pitchFamily="34" charset="-122"/>
                <a:cs typeface="Calibri" pitchFamily="34" charset="-120"/>
              </a:rPr>
              <a:t>EBITDA año 4 supera $50M, cobertura amplia de costos fijos
</a:t>
            </a:r>
            <a:pPr indent="0" marL="0">
              <a:buNone/>
            </a:pPr>
            <a:r>
              <a:rPr lang="en-US" sz="1200" b="1" dirty="0">
                <a:solidFill>
                  <a:srgbClr val="EF4444"/>
                </a:solidFill>
                <a:latin typeface="Calibri" pitchFamily="34" charset="0"/>
                <a:ea typeface="Calibri" pitchFamily="34" charset="-122"/>
                <a:cs typeface="Calibri" pitchFamily="34" charset="-120"/>
              </a:rPr>
              <a:t>• Riesgo principal: </a:t>
            </a:r>
            <a:pPr indent="0" marL="0">
              <a:buNone/>
            </a:pPr>
            <a:r>
              <a:rPr lang="en-US" sz="1200" dirty="0">
                <a:solidFill>
                  <a:srgbClr val="4B5563"/>
                </a:solidFill>
                <a:latin typeface="Calibri" pitchFamily="34" charset="0"/>
                <a:ea typeface="Calibri" pitchFamily="34" charset="-122"/>
                <a:cs typeface="Calibri" pitchFamily="34" charset="-120"/>
              </a:rPr>
              <a:t>dependencia del horario laboral L-V; weekend cae 60-100%</a:t>
            </a:r>
            <a:endParaRPr lang="en-US" sz="1200" dirty="0"/>
          </a:p>
        </p:txBody>
      </p:sp>
      <p:sp>
        <p:nvSpPr>
          <p:cNvPr id="26" name="Text 2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7" name="Text 2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SENSIBILIDAD Y ESCENARIOS</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El VAN es altamente sensible a 4 supuestos clave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828800"/>
          <a:ext cx="11430000" cy="914400"/>
        </p:xfrm>
        <a:graphic>
          <a:graphicData uri="http://schemas.openxmlformats.org/drawingml/2006/table">
            <a:tbl>
              <a:tblPr/>
              <a:tblGrid>
                <a:gridCol w="1828800"/>
                <a:gridCol w="914400"/>
                <a:gridCol w="1645920"/>
                <a:gridCol w="1828800"/>
                <a:gridCol w="1371600"/>
                <a:gridCol w="1371600"/>
                <a:gridCol w="24688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Escenario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Tcc</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Planilla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C.fijos no lab</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 demanda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Días/sem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Δ VAN El Golf</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Conservador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 personas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$850k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 d/sem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55934"/>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Intermedio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 personas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$560k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 d/sem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55934"/>
                          </a:solidFill>
                          <a:latin typeface="Calibri" pitchFamily="34" charset="0"/>
                          <a:ea typeface="Calibri" pitchFamily="34" charset="-122"/>
                          <a:cs typeface="Calibri" pitchFamily="34" charset="-120"/>
                        </a:rPr>
                        <a:t>+~$60M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Optimista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 personas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$560k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7 d/sem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55934"/>
                          </a:solidFill>
                          <a:latin typeface="Calibri" pitchFamily="34" charset="0"/>
                          <a:ea typeface="Calibri" pitchFamily="34" charset="-122"/>
                          <a:cs typeface="Calibri" pitchFamily="34" charset="-120"/>
                        </a:rPr>
                        <a:t>+~$90M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365760" y="3657600"/>
            <a:ext cx="11430000" cy="365760"/>
          </a:xfrm>
          <a:prstGeom prst="rect">
            <a:avLst/>
          </a:prstGeom>
          <a:noFill/>
          <a:ln/>
        </p:spPr>
        <p:txBody>
          <a:bodyPr wrap="square"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Variables de sensibilidad univariada (±20% sobre VAN base):</a:t>
            </a:r>
            <a:endParaRPr lang="en-US" sz="1300" dirty="0"/>
          </a:p>
        </p:txBody>
      </p:sp>
      <p:sp>
        <p:nvSpPr>
          <p:cNvPr id="7" name="Text 4"/>
          <p:cNvSpPr/>
          <p:nvPr/>
        </p:nvSpPr>
        <p:spPr>
          <a:xfrm>
            <a:off x="365760" y="411480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1. Demanda (combos/día)</a:t>
            </a:r>
            <a:endParaRPr lang="en-US" sz="1100" dirty="0"/>
          </a:p>
        </p:txBody>
      </p:sp>
      <p:sp>
        <p:nvSpPr>
          <p:cNvPr id="8" name="Text 5"/>
          <p:cNvSpPr/>
          <p:nvPr/>
        </p:nvSpPr>
        <p:spPr>
          <a:xfrm>
            <a:off x="3566160" y="4114800"/>
            <a:ext cx="640080" cy="365760"/>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Alta</a:t>
            </a:r>
            <a:endParaRPr lang="en-US" sz="1100" dirty="0"/>
          </a:p>
        </p:txBody>
      </p:sp>
      <p:sp>
        <p:nvSpPr>
          <p:cNvPr id="9" name="Text 6"/>
          <p:cNvSpPr/>
          <p:nvPr/>
        </p:nvSpPr>
        <p:spPr>
          <a:xfrm>
            <a:off x="4206240" y="411480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2. Ticket promedio</a:t>
            </a:r>
            <a:endParaRPr lang="en-US" sz="1100" dirty="0"/>
          </a:p>
        </p:txBody>
      </p:sp>
      <p:sp>
        <p:nvSpPr>
          <p:cNvPr id="10" name="Text 7"/>
          <p:cNvSpPr/>
          <p:nvPr/>
        </p:nvSpPr>
        <p:spPr>
          <a:xfrm>
            <a:off x="7406640" y="4114800"/>
            <a:ext cx="640080" cy="365760"/>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Alta</a:t>
            </a:r>
            <a:endParaRPr lang="en-US" sz="1100" dirty="0"/>
          </a:p>
        </p:txBody>
      </p:sp>
      <p:sp>
        <p:nvSpPr>
          <p:cNvPr id="11" name="Text 8"/>
          <p:cNvSpPr/>
          <p:nvPr/>
        </p:nvSpPr>
        <p:spPr>
          <a:xfrm>
            <a:off x="8046720" y="411480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3. Costo variable insumos</a:t>
            </a:r>
            <a:endParaRPr lang="en-US" sz="1100" dirty="0"/>
          </a:p>
        </p:txBody>
      </p:sp>
      <p:sp>
        <p:nvSpPr>
          <p:cNvPr id="12" name="Text 9"/>
          <p:cNvSpPr/>
          <p:nvPr/>
        </p:nvSpPr>
        <p:spPr>
          <a:xfrm>
            <a:off x="11247120" y="4114800"/>
            <a:ext cx="640080" cy="36576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Media</a:t>
            </a:r>
            <a:endParaRPr lang="en-US" sz="1100" dirty="0"/>
          </a:p>
        </p:txBody>
      </p:sp>
      <p:sp>
        <p:nvSpPr>
          <p:cNvPr id="13" name="Text 10"/>
          <p:cNvSpPr/>
          <p:nvPr/>
        </p:nvSpPr>
        <p:spPr>
          <a:xfrm>
            <a:off x="365760" y="466344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4. Tasa de descuento</a:t>
            </a:r>
            <a:endParaRPr lang="en-US" sz="1100" dirty="0"/>
          </a:p>
        </p:txBody>
      </p:sp>
      <p:sp>
        <p:nvSpPr>
          <p:cNvPr id="14" name="Text 11"/>
          <p:cNvSpPr/>
          <p:nvPr/>
        </p:nvSpPr>
        <p:spPr>
          <a:xfrm>
            <a:off x="3566160" y="4663440"/>
            <a:ext cx="640080" cy="36576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Media</a:t>
            </a:r>
            <a:endParaRPr lang="en-US" sz="1100" dirty="0"/>
          </a:p>
        </p:txBody>
      </p:sp>
      <p:sp>
        <p:nvSpPr>
          <p:cNvPr id="15" name="Text 12"/>
          <p:cNvSpPr/>
          <p:nvPr/>
        </p:nvSpPr>
        <p:spPr>
          <a:xfrm>
            <a:off x="4206240" y="466344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5. Arriendo</a:t>
            </a:r>
            <a:endParaRPr lang="en-US" sz="1100" dirty="0"/>
          </a:p>
        </p:txBody>
      </p:sp>
      <p:sp>
        <p:nvSpPr>
          <p:cNvPr id="16" name="Text 13"/>
          <p:cNvSpPr/>
          <p:nvPr/>
        </p:nvSpPr>
        <p:spPr>
          <a:xfrm>
            <a:off x="7406640" y="4663440"/>
            <a:ext cx="640080" cy="36576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Media</a:t>
            </a:r>
            <a:endParaRPr lang="en-US" sz="1100" dirty="0"/>
          </a:p>
        </p:txBody>
      </p:sp>
      <p:sp>
        <p:nvSpPr>
          <p:cNvPr id="17" name="Text 14"/>
          <p:cNvSpPr/>
          <p:nvPr/>
        </p:nvSpPr>
        <p:spPr>
          <a:xfrm>
            <a:off x="8046720" y="4663440"/>
            <a:ext cx="3200400" cy="36576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6. Sueldos planilla</a:t>
            </a:r>
            <a:endParaRPr lang="en-US" sz="1100" dirty="0"/>
          </a:p>
        </p:txBody>
      </p:sp>
      <p:sp>
        <p:nvSpPr>
          <p:cNvPr id="18" name="Text 15"/>
          <p:cNvSpPr/>
          <p:nvPr/>
        </p:nvSpPr>
        <p:spPr>
          <a:xfrm>
            <a:off x="11247120" y="4663440"/>
            <a:ext cx="640080" cy="36576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Baja</a:t>
            </a:r>
            <a:endParaRPr lang="en-US" sz="1100" dirty="0"/>
          </a:p>
        </p:txBody>
      </p:sp>
      <p:sp>
        <p:nvSpPr>
          <p:cNvPr id="19" name="Text 16"/>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20" name="Text 17"/>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GESTIÓN DE RIESGOS</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Matriz cualitativa de los 12 riesgos identificados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11430000" cy="914400"/>
        </p:xfrm>
        <a:graphic>
          <a:graphicData uri="http://schemas.openxmlformats.org/drawingml/2006/table">
            <a:tbl>
              <a:tblPr/>
              <a:tblGrid>
                <a:gridCol w="457200"/>
                <a:gridCol w="1645920"/>
                <a:gridCol w="3657600"/>
                <a:gridCol w="1280160"/>
                <a:gridCol w="438912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Categoría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Riesgo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Severidad</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Mitigación principal</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B3D5C"/>
                    </a:solidFill>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Inmobiliario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Subida de arriendo al renovar contrato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Cláusula reajuste IPC tope 6%</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Mercado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Caída demanda por contracción económica</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Reserva cash 6 meses egresos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Competencia</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Apertura cadena en radio &lt; 500m</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Programa fidelización pre-apertura</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Talento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Rotación alta de baristas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Contratos indefinidos + capacitación</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Sanitario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Pandemia que reduce flujo peatonal</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Capacidad delivery rápido + canal B2B</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502920">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Suministro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Caída del proveedor combo envasado</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b="1" dirty="0">
                          <a:solidFill>
                            <a:srgbClr val="F59E0B"/>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Min. 2 proveedores activos cert.</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365760" y="5669280"/>
            <a:ext cx="11430000" cy="640080"/>
          </a:xfrm>
          <a:prstGeom prst="rect">
            <a:avLst/>
          </a:prstGeom>
          <a:noFill/>
          <a:ln/>
        </p:spPr>
        <p:txBody>
          <a:bodyPr wrap="square" rtlCol="0" anchor="ctr"/>
          <a:lstStyle/>
          <a:p>
            <a:pPr indent="0" marL="0">
              <a:buNone/>
            </a:pPr>
            <a:r>
              <a:rPr lang="en-US" sz="1000" i="1" dirty="0">
                <a:solidFill>
                  <a:srgbClr val="9CA3AF"/>
                </a:solidFill>
                <a:latin typeface="Calibri" pitchFamily="34" charset="0"/>
                <a:ea typeface="Calibri" pitchFamily="34" charset="-122"/>
                <a:cs typeface="Calibri" pitchFamily="34" charset="-120"/>
              </a:rPr>
              <a:t>Riesgos adicionales documentados en informe Word: tipo de cambio insumos importados · cambios regulatorios sanitarios · falla de máquina espresso · robo/vandalismo · aumento salario mínimo · comisión tarjetas (regulatorio).</a:t>
            </a:r>
            <a:endParaRPr lang="en-US" sz="1000" dirty="0"/>
          </a:p>
        </p:txBody>
      </p:sp>
      <p:sp>
        <p:nvSpPr>
          <p:cNvPr id="7" name="Text 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8" name="Text 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0B3D5C"/>
          </a:solidFill>
          <a:ln/>
        </p:spPr>
      </p:sp>
      <p:sp>
        <p:nvSpPr>
          <p:cNvPr id="3" name="Text 1"/>
          <p:cNvSpPr/>
          <p:nvPr/>
        </p:nvSpPr>
        <p:spPr>
          <a:xfrm>
            <a:off x="365760" y="45720"/>
            <a:ext cx="10972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CONCLUSIONES Y PRÓXIMOS PASOS</a:t>
            </a:r>
            <a:endParaRPr lang="en-US" sz="1100" dirty="0"/>
          </a:p>
        </p:txBody>
      </p:sp>
      <p:sp>
        <p:nvSpPr>
          <p:cNvPr id="4" name="Text 2"/>
          <p:cNvSpPr/>
          <p:nvPr/>
        </p:nvSpPr>
        <p:spPr>
          <a:xfrm>
            <a:off x="365760" y="548640"/>
            <a:ext cx="11430000" cy="640080"/>
          </a:xfrm>
          <a:prstGeom prst="rect">
            <a:avLst/>
          </a:prstGeom>
          <a:noFill/>
          <a:ln/>
        </p:spPr>
        <p:txBody>
          <a:bodyPr wrap="square" rtlCol="0" anchor="ctr"/>
          <a:lstStyle/>
          <a:p>
            <a:pPr indent="0" marL="0">
              <a:buNone/>
            </a:pPr>
            <a:r>
              <a:rPr lang="en-US" sz="2800" b="1" dirty="0">
                <a:solidFill>
                  <a:srgbClr val="0B3D5C"/>
                </a:solidFill>
                <a:latin typeface="Calibri" pitchFamily="34" charset="0"/>
                <a:ea typeface="Calibri" pitchFamily="34" charset="-122"/>
                <a:cs typeface="Calibri" pitchFamily="34" charset="-120"/>
              </a:rPr>
              <a:t>Recomendación: ejecutar en El Golf bajo monitoreo activo</a:t>
            </a:r>
            <a:endParaRPr lang="en-US" sz="2800" dirty="0"/>
          </a:p>
        </p:txBody>
      </p:sp>
      <p:sp>
        <p:nvSpPr>
          <p:cNvPr id="5" name="Text 3"/>
          <p:cNvSpPr/>
          <p:nvPr/>
        </p:nvSpPr>
        <p:spPr>
          <a:xfrm>
            <a:off x="365760" y="1554480"/>
            <a:ext cx="566928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CONCLUSIONES PRINCIPALES</a:t>
            </a:r>
            <a:endParaRPr lang="en-US" sz="1400" dirty="0"/>
          </a:p>
        </p:txBody>
      </p:sp>
      <p:sp>
        <p:nvSpPr>
          <p:cNvPr id="6" name="Text 4"/>
          <p:cNvSpPr/>
          <p:nvPr/>
        </p:nvSpPr>
        <p:spPr>
          <a:xfrm>
            <a:off x="365760" y="1965960"/>
            <a:ext cx="5669280" cy="411480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El Golf </a:t>
            </a:r>
            <a:pPr indent="0" marL="0">
              <a:buNone/>
            </a:pPr>
            <a:r>
              <a:rPr lang="en-US" sz="1200" dirty="0">
                <a:solidFill>
                  <a:srgbClr val="4B5563"/>
                </a:solidFill>
                <a:latin typeface="Calibri" pitchFamily="34" charset="0"/>
                <a:ea typeface="Calibri" pitchFamily="34" charset="-122"/>
                <a:cs typeface="Calibri" pitchFamily="34" charset="-120"/>
              </a:rPr>
              <a:t>presenta VAN $107M con TIR 49% (única zona con score ≥ 65 y resiliencia probada).
</a:t>
            </a:r>
            <a:pPr indent="0" marL="0">
              <a:buNone/>
            </a:pPr>
            <a:r>
              <a:rPr lang="en-US" sz="1200" b="1" dirty="0">
                <a:solidFill>
                  <a:srgbClr val="10B981"/>
                </a:solidFill>
                <a:latin typeface="Calibri" pitchFamily="34" charset="0"/>
                <a:ea typeface="Calibri" pitchFamily="34" charset="-122"/>
                <a:cs typeface="Calibri" pitchFamily="34" charset="-120"/>
              </a:rPr>
              <a:t>✓  Modelo robusto </a:t>
            </a:r>
            <a:pPr indent="0" marL="0">
              <a:buNone/>
            </a:pPr>
            <a:r>
              <a:rPr lang="en-US" sz="1200" dirty="0">
                <a:solidFill>
                  <a:srgbClr val="4B5563"/>
                </a:solidFill>
                <a:latin typeface="Calibri" pitchFamily="34" charset="0"/>
                <a:ea typeface="Calibri" pitchFamily="34" charset="-122"/>
                <a:cs typeface="Calibri" pitchFamily="34" charset="-120"/>
              </a:rPr>
              <a:t>con corrección de costos (real $850k/mes), comisión tarjetas, valor terminal por múltiplo EBITDA, penalización por competencia y ramp-up año a año.
</a:t>
            </a:r>
            <a:pPr indent="0" marL="0">
              <a:buNone/>
            </a:pPr>
            <a:r>
              <a:rPr lang="en-US" sz="1200" b="1" dirty="0">
                <a:solidFill>
                  <a:srgbClr val="F59E0B"/>
                </a:solidFill>
                <a:latin typeface="Calibri" pitchFamily="34" charset="0"/>
                <a:ea typeface="Calibri" pitchFamily="34" charset="-122"/>
                <a:cs typeface="Calibri" pitchFamily="34" charset="-120"/>
              </a:rPr>
              <a:t>⚠  Escenario pesimista </a:t>
            </a:r>
            <a:pPr indent="0" marL="0">
              <a:buNone/>
            </a:pPr>
            <a:r>
              <a:rPr lang="en-US" sz="1200" dirty="0">
                <a:solidFill>
                  <a:srgbClr val="4B5563"/>
                </a:solidFill>
                <a:latin typeface="Calibri" pitchFamily="34" charset="0"/>
                <a:ea typeface="Calibri" pitchFamily="34" charset="-122"/>
                <a:cs typeface="Calibri" pitchFamily="34" charset="-120"/>
              </a:rPr>
              <a:t>destruye valor en TODAS las ubicaciones — el plan de contingencia es obligatorio.
</a:t>
            </a:r>
            <a:pPr indent="0" marL="0">
              <a:buNone/>
            </a:pPr>
            <a:r>
              <a:rPr lang="en-US" sz="1200" b="1" dirty="0">
                <a:solidFill>
                  <a:srgbClr val="EF4444"/>
                </a:solidFill>
                <a:latin typeface="Calibri" pitchFamily="34" charset="0"/>
                <a:ea typeface="Calibri" pitchFamily="34" charset="-122"/>
                <a:cs typeface="Calibri" pitchFamily="34" charset="-120"/>
              </a:rPr>
              <a:t>✗  Santiago Centro NO conviene </a:t>
            </a:r>
            <a:pPr indent="0" marL="0">
              <a:buNone/>
            </a:pPr>
            <a:r>
              <a:rPr lang="en-US" sz="1200" dirty="0">
                <a:solidFill>
                  <a:srgbClr val="4B5563"/>
                </a:solidFill>
                <a:latin typeface="Calibri" pitchFamily="34" charset="0"/>
                <a:ea typeface="Calibri" pitchFamily="34" charset="-122"/>
                <a:cs typeface="Calibri" pitchFamily="34" charset="-120"/>
              </a:rPr>
              <a:t>pese al mayor flujo peatonal: la hipercompetencia (145 cafés/km²) hace inviable la captación de mercado.</a:t>
            </a:r>
            <a:endParaRPr lang="en-US" sz="1200" dirty="0"/>
          </a:p>
        </p:txBody>
      </p:sp>
      <p:sp>
        <p:nvSpPr>
          <p:cNvPr id="7" name="Text 5"/>
          <p:cNvSpPr/>
          <p:nvPr/>
        </p:nvSpPr>
        <p:spPr>
          <a:xfrm>
            <a:off x="6400800" y="1554480"/>
            <a:ext cx="539496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PLAN DE ACCIÓN — PRÓXIMOS 90 DÍAS</a:t>
            </a:r>
            <a:endParaRPr lang="en-US" sz="1400" dirty="0"/>
          </a:p>
        </p:txBody>
      </p:sp>
      <p:sp>
        <p:nvSpPr>
          <p:cNvPr id="8" name="Shape 6"/>
          <p:cNvSpPr/>
          <p:nvPr/>
        </p:nvSpPr>
        <p:spPr>
          <a:xfrm>
            <a:off x="6400800" y="2057400"/>
            <a:ext cx="365760" cy="365760"/>
          </a:xfrm>
          <a:prstGeom prst="ellipse">
            <a:avLst/>
          </a:prstGeom>
          <a:solidFill>
            <a:srgbClr val="E55934"/>
          </a:solidFill>
          <a:ln/>
        </p:spPr>
      </p:sp>
      <p:sp>
        <p:nvSpPr>
          <p:cNvPr id="9" name="Text 7"/>
          <p:cNvSpPr/>
          <p:nvPr/>
        </p:nvSpPr>
        <p:spPr>
          <a:xfrm>
            <a:off x="6400800" y="20574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6858000" y="201168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1-15</a:t>
            </a:r>
            <a:endParaRPr lang="en-US" sz="1000" dirty="0"/>
          </a:p>
        </p:txBody>
      </p:sp>
      <p:sp>
        <p:nvSpPr>
          <p:cNvPr id="11" name="Text 9"/>
          <p:cNvSpPr/>
          <p:nvPr/>
        </p:nvSpPr>
        <p:spPr>
          <a:xfrm>
            <a:off x="8321040" y="201168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Estudio primario demanda en local específico (1 semana)</a:t>
            </a:r>
            <a:endParaRPr lang="en-US" sz="1000" dirty="0"/>
          </a:p>
        </p:txBody>
      </p:sp>
      <p:sp>
        <p:nvSpPr>
          <p:cNvPr id="12" name="Shape 10"/>
          <p:cNvSpPr/>
          <p:nvPr/>
        </p:nvSpPr>
        <p:spPr>
          <a:xfrm>
            <a:off x="6400800" y="2560320"/>
            <a:ext cx="365760" cy="365760"/>
          </a:xfrm>
          <a:prstGeom prst="ellipse">
            <a:avLst/>
          </a:prstGeom>
          <a:solidFill>
            <a:srgbClr val="E55934"/>
          </a:solidFill>
          <a:ln/>
        </p:spPr>
      </p:sp>
      <p:sp>
        <p:nvSpPr>
          <p:cNvPr id="13" name="Text 11"/>
          <p:cNvSpPr/>
          <p:nvPr/>
        </p:nvSpPr>
        <p:spPr>
          <a:xfrm>
            <a:off x="6400800" y="25603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6858000" y="251460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15-30</a:t>
            </a:r>
            <a:endParaRPr lang="en-US" sz="1000" dirty="0"/>
          </a:p>
        </p:txBody>
      </p:sp>
      <p:sp>
        <p:nvSpPr>
          <p:cNvPr id="15" name="Text 13"/>
          <p:cNvSpPr/>
          <p:nvPr/>
        </p:nvSpPr>
        <p:spPr>
          <a:xfrm>
            <a:off x="8321040" y="251460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Negociación arriendo + reserva con cláusula de gracia</a:t>
            </a:r>
            <a:endParaRPr lang="en-US" sz="1000" dirty="0"/>
          </a:p>
        </p:txBody>
      </p:sp>
      <p:sp>
        <p:nvSpPr>
          <p:cNvPr id="16" name="Shape 14"/>
          <p:cNvSpPr/>
          <p:nvPr/>
        </p:nvSpPr>
        <p:spPr>
          <a:xfrm>
            <a:off x="6400800" y="3063240"/>
            <a:ext cx="365760" cy="365760"/>
          </a:xfrm>
          <a:prstGeom prst="ellipse">
            <a:avLst/>
          </a:prstGeom>
          <a:solidFill>
            <a:srgbClr val="E55934"/>
          </a:solidFill>
          <a:ln/>
        </p:spPr>
      </p:sp>
      <p:sp>
        <p:nvSpPr>
          <p:cNvPr id="17" name="Text 15"/>
          <p:cNvSpPr/>
          <p:nvPr/>
        </p:nvSpPr>
        <p:spPr>
          <a:xfrm>
            <a:off x="6400800" y="30632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858000" y="301752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30-45</a:t>
            </a:r>
            <a:endParaRPr lang="en-US" sz="1000" dirty="0"/>
          </a:p>
        </p:txBody>
      </p:sp>
      <p:sp>
        <p:nvSpPr>
          <p:cNvPr id="19" name="Text 17"/>
          <p:cNvSpPr/>
          <p:nvPr/>
        </p:nvSpPr>
        <p:spPr>
          <a:xfrm>
            <a:off x="8321040" y="301752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SII inicio actividades + SEREMI sanitaria</a:t>
            </a:r>
            <a:endParaRPr lang="en-US" sz="1000" dirty="0"/>
          </a:p>
        </p:txBody>
      </p:sp>
      <p:sp>
        <p:nvSpPr>
          <p:cNvPr id="20" name="Shape 18"/>
          <p:cNvSpPr/>
          <p:nvPr/>
        </p:nvSpPr>
        <p:spPr>
          <a:xfrm>
            <a:off x="6400800" y="3566160"/>
            <a:ext cx="365760" cy="365760"/>
          </a:xfrm>
          <a:prstGeom prst="ellipse">
            <a:avLst/>
          </a:prstGeom>
          <a:solidFill>
            <a:srgbClr val="E55934"/>
          </a:solidFill>
          <a:ln/>
        </p:spPr>
      </p:sp>
      <p:sp>
        <p:nvSpPr>
          <p:cNvPr id="21" name="Text 19"/>
          <p:cNvSpPr/>
          <p:nvPr/>
        </p:nvSpPr>
        <p:spPr>
          <a:xfrm>
            <a:off x="6400800" y="35661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858000" y="352044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45-60</a:t>
            </a:r>
            <a:endParaRPr lang="en-US" sz="1000" dirty="0"/>
          </a:p>
        </p:txBody>
      </p:sp>
      <p:sp>
        <p:nvSpPr>
          <p:cNvPr id="23" name="Text 21"/>
          <p:cNvSpPr/>
          <p:nvPr/>
        </p:nvSpPr>
        <p:spPr>
          <a:xfrm>
            <a:off x="8321040" y="352044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Línea crédito PYME + obra menor</a:t>
            </a:r>
            <a:endParaRPr lang="en-US" sz="1000" dirty="0"/>
          </a:p>
        </p:txBody>
      </p:sp>
      <p:sp>
        <p:nvSpPr>
          <p:cNvPr id="24" name="Shape 22"/>
          <p:cNvSpPr/>
          <p:nvPr/>
        </p:nvSpPr>
        <p:spPr>
          <a:xfrm>
            <a:off x="6400800" y="4069080"/>
            <a:ext cx="365760" cy="365760"/>
          </a:xfrm>
          <a:prstGeom prst="ellipse">
            <a:avLst/>
          </a:prstGeom>
          <a:solidFill>
            <a:srgbClr val="E55934"/>
          </a:solidFill>
          <a:ln/>
        </p:spPr>
      </p:sp>
      <p:sp>
        <p:nvSpPr>
          <p:cNvPr id="25" name="Text 23"/>
          <p:cNvSpPr/>
          <p:nvPr/>
        </p:nvSpPr>
        <p:spPr>
          <a:xfrm>
            <a:off x="6400800" y="40690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6858000" y="402336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60-75</a:t>
            </a:r>
            <a:endParaRPr lang="en-US" sz="1000" dirty="0"/>
          </a:p>
        </p:txBody>
      </p:sp>
      <p:sp>
        <p:nvSpPr>
          <p:cNvPr id="27" name="Text 25"/>
          <p:cNvSpPr/>
          <p:nvPr/>
        </p:nvSpPr>
        <p:spPr>
          <a:xfrm>
            <a:off x="8321040" y="402336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Capacitación baristas + contratos proveedores combo</a:t>
            </a:r>
            <a:endParaRPr lang="en-US" sz="1000" dirty="0"/>
          </a:p>
        </p:txBody>
      </p:sp>
      <p:sp>
        <p:nvSpPr>
          <p:cNvPr id="28" name="Shape 26"/>
          <p:cNvSpPr/>
          <p:nvPr/>
        </p:nvSpPr>
        <p:spPr>
          <a:xfrm>
            <a:off x="6400800" y="4572000"/>
            <a:ext cx="365760" cy="365760"/>
          </a:xfrm>
          <a:prstGeom prst="ellipse">
            <a:avLst/>
          </a:prstGeom>
          <a:solidFill>
            <a:srgbClr val="E55934"/>
          </a:solidFill>
          <a:ln/>
        </p:spPr>
      </p:sp>
      <p:sp>
        <p:nvSpPr>
          <p:cNvPr id="29" name="Text 27"/>
          <p:cNvSpPr/>
          <p:nvPr/>
        </p:nvSpPr>
        <p:spPr>
          <a:xfrm>
            <a:off x="6400800" y="4572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p:nvPr/>
        </p:nvSpPr>
        <p:spPr>
          <a:xfrm>
            <a:off x="6858000" y="452628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75-90</a:t>
            </a:r>
            <a:endParaRPr lang="en-US" sz="1000" dirty="0"/>
          </a:p>
        </p:txBody>
      </p:sp>
      <p:sp>
        <p:nvSpPr>
          <p:cNvPr id="31" name="Text 29"/>
          <p:cNvSpPr/>
          <p:nvPr/>
        </p:nvSpPr>
        <p:spPr>
          <a:xfrm>
            <a:off x="8321040" y="452628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Marketing pre-apertura (Instagram + Google Maps)</a:t>
            </a:r>
            <a:endParaRPr lang="en-US" sz="1000" dirty="0"/>
          </a:p>
        </p:txBody>
      </p:sp>
      <p:sp>
        <p:nvSpPr>
          <p:cNvPr id="32" name="Shape 30"/>
          <p:cNvSpPr/>
          <p:nvPr/>
        </p:nvSpPr>
        <p:spPr>
          <a:xfrm>
            <a:off x="6400800" y="5074920"/>
            <a:ext cx="365760" cy="365760"/>
          </a:xfrm>
          <a:prstGeom prst="ellipse">
            <a:avLst/>
          </a:prstGeom>
          <a:solidFill>
            <a:srgbClr val="E55934"/>
          </a:solidFill>
          <a:ln/>
        </p:spPr>
      </p:sp>
      <p:sp>
        <p:nvSpPr>
          <p:cNvPr id="33" name="Text 31"/>
          <p:cNvSpPr/>
          <p:nvPr/>
        </p:nvSpPr>
        <p:spPr>
          <a:xfrm>
            <a:off x="6400800" y="50749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4" name="Text 32"/>
          <p:cNvSpPr/>
          <p:nvPr/>
        </p:nvSpPr>
        <p:spPr>
          <a:xfrm>
            <a:off x="6858000" y="5029200"/>
            <a:ext cx="1463040" cy="457200"/>
          </a:xfrm>
          <a:prstGeom prst="rect">
            <a:avLst/>
          </a:prstGeom>
          <a:noFill/>
          <a:ln/>
        </p:spPr>
        <p:txBody>
          <a:bodyPr wrap="square" rtlCol="0" anchor="ctr"/>
          <a:lstStyle/>
          <a:p>
            <a:pPr indent="0" marL="0">
              <a:buNone/>
            </a:pPr>
            <a:r>
              <a:rPr lang="en-US" sz="1000" b="1" dirty="0">
                <a:solidFill>
                  <a:srgbClr val="0B3D5C"/>
                </a:solidFill>
                <a:latin typeface="Calibri" pitchFamily="34" charset="0"/>
                <a:ea typeface="Calibri" pitchFamily="34" charset="-122"/>
                <a:cs typeface="Calibri" pitchFamily="34" charset="-120"/>
              </a:rPr>
              <a:t>Día 90+</a:t>
            </a:r>
            <a:endParaRPr lang="en-US" sz="1000" dirty="0"/>
          </a:p>
        </p:txBody>
      </p:sp>
      <p:sp>
        <p:nvSpPr>
          <p:cNvPr id="35" name="Text 33"/>
          <p:cNvSpPr/>
          <p:nvPr/>
        </p:nvSpPr>
        <p:spPr>
          <a:xfrm>
            <a:off x="8321040" y="5029200"/>
            <a:ext cx="3657600" cy="45720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APERTURA · monitoreo mensual KPIs</a:t>
            </a:r>
            <a:endParaRPr lang="en-US" sz="1000" dirty="0"/>
          </a:p>
        </p:txBody>
      </p:sp>
      <p:sp>
        <p:nvSpPr>
          <p:cNvPr id="36" name="Text 34"/>
          <p:cNvSpPr/>
          <p:nvPr/>
        </p:nvSpPr>
        <p:spPr>
          <a:xfrm>
            <a:off x="365760" y="6446520"/>
            <a:ext cx="7315200" cy="274320"/>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MBA UAH 2026 · Evaluación de Proyectos · Prof. Mauricio Zúñiga</a:t>
            </a:r>
            <a:endParaRPr lang="en-US" sz="900" dirty="0"/>
          </a:p>
        </p:txBody>
      </p:sp>
      <p:sp>
        <p:nvSpPr>
          <p:cNvPr id="37" name="Text 3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Universidad Alberto Hurtado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Cafetería Combo Único · RM</dc:title>
  <dc:subject>PptxGenJS Presentation</dc:subject>
  <dc:creator>MBA UAH 2026</dc:creator>
  <cp:lastModifiedBy>MBA UAH 2026</cp:lastModifiedBy>
  <cp:revision>1</cp:revision>
  <dcterms:created xsi:type="dcterms:W3CDTF">2026-05-08T02:38:09Z</dcterms:created>
  <dcterms:modified xsi:type="dcterms:W3CDTF">2026-05-08T02:38:09Z</dcterms:modified>
</cp:coreProperties>
</file>